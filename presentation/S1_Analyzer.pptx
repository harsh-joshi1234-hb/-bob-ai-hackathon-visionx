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0" y="502920"/>
            <a:ext cx="12191695" cy="640080"/>
          </a:xfrm>
          <a:prstGeom prst="rect">
            <a:avLst/>
          </a:prstGeom>
          <a:noFill/>
          <a:ln/>
        </p:spPr>
        <p:txBody>
          <a:bodyPr wrap="square" lIns="0" tIns="0" rIns="0" bIns="0" rtlCol="0" anchor="ctr"/>
          <a:lstStyle/>
          <a:p>
            <a:pPr algn="ctr" indent="0" marL="0">
              <a:buNone/>
            </a:pPr>
            <a:r>
              <a:rPr lang="en-US" sz="4000" dirty="0">
                <a:solidFill>
                  <a:srgbClr val="F589C9"/>
                </a:solidFill>
                <a:latin typeface="Georgia" pitchFamily="34" charset="0"/>
                <a:ea typeface="Georgia" pitchFamily="34" charset="-122"/>
                <a:cs typeface="Georgia" pitchFamily="34" charset="-120"/>
              </a:rPr>
              <a:t>S1 Analyzer</a:t>
            </a:r>
            <a:endParaRPr lang="en-US" sz="4000" dirty="0"/>
          </a:p>
        </p:txBody>
      </p:sp>
      <p:sp>
        <p:nvSpPr>
          <p:cNvPr id="3" name="Text 1"/>
          <p:cNvSpPr txBox="1"/>
          <p:nvPr/>
        </p:nvSpPr>
        <p:spPr>
          <a:xfrm>
            <a:off x="0" y="1115568"/>
            <a:ext cx="12191695" cy="411480"/>
          </a:xfrm>
          <a:prstGeom prst="rect">
            <a:avLst/>
          </a:prstGeom>
          <a:noFill/>
          <a:ln/>
        </p:spPr>
        <p:txBody>
          <a:bodyPr wrap="square" lIns="0" tIns="0" rIns="0" bIns="0" rtlCol="0" anchor="ctr"/>
          <a:lstStyle/>
          <a:p>
            <a:pPr algn="ctr" indent="0" marL="0">
              <a:buNone/>
            </a:pPr>
            <a:r>
              <a:rPr lang="en-US" sz="2000" dirty="0">
                <a:solidFill>
                  <a:srgbClr val="1EA0C4"/>
                </a:solidFill>
                <a:latin typeface="Georgia" pitchFamily="34" charset="0"/>
                <a:ea typeface="Georgia" pitchFamily="34" charset="-122"/>
                <a:cs typeface="Georgia" pitchFamily="34" charset="-120"/>
              </a:rPr>
              <a:t>Wafer Yield Root Cause &amp; Defect Pattern Analyser</a:t>
            </a:r>
            <a:endParaRPr lang="en-US" sz="2000" dirty="0"/>
          </a:p>
        </p:txBody>
      </p:sp>
      <p:sp>
        <p:nvSpPr>
          <p:cNvPr id="4" name="Text 2"/>
          <p:cNvSpPr txBox="1"/>
          <p:nvPr/>
        </p:nvSpPr>
        <p:spPr>
          <a:xfrm>
            <a:off x="914400" y="1572768"/>
            <a:ext cx="10362895" cy="365760"/>
          </a:xfrm>
          <a:prstGeom prst="rect">
            <a:avLst/>
          </a:prstGeom>
          <a:noFill/>
          <a:ln/>
        </p:spPr>
        <p:txBody>
          <a:bodyPr wrap="square" lIns="0" tIns="0" rIns="0" bIns="0" rtlCol="0" anchor="ctr"/>
          <a:lstStyle/>
          <a:p>
            <a:pPr algn="ctr" indent="0" marL="0">
              <a:buNone/>
            </a:pPr>
            <a:r>
              <a:rPr lang="en-US" sz="1300" dirty="0">
                <a:solidFill>
                  <a:srgbClr val="D6D7E0"/>
                </a:solidFill>
                <a:latin typeface="Arial" pitchFamily="34" charset="0"/>
                <a:ea typeface="Arial" pitchFamily="34" charset="-122"/>
                <a:cs typeface="Arial" pitchFamily="34" charset="-120"/>
              </a:rPr>
              <a:t>AI-powered wafer defect detection, process-risk prediction, root-cause analysis and preventive batch screening</a:t>
            </a:r>
            <a:endParaRPr lang="en-US" sz="1300" dirty="0"/>
          </a:p>
        </p:txBody>
      </p:sp>
      <p:sp>
        <p:nvSpPr>
          <p:cNvPr id="5" name="Shape 3"/>
          <p:cNvSpPr/>
          <p:nvPr/>
        </p:nvSpPr>
        <p:spPr>
          <a:xfrm>
            <a:off x="521208" y="2011680"/>
            <a:ext cx="11149279" cy="0"/>
          </a:xfrm>
          <a:prstGeom prst="line">
            <a:avLst/>
          </a:prstGeom>
          <a:noFill/>
          <a:ln w="12700">
            <a:solidFill>
              <a:srgbClr val="6A6C7D"/>
            </a:solidFill>
            <a:prstDash val="solid"/>
          </a:ln>
        </p:spPr>
      </p:sp>
      <p:sp>
        <p:nvSpPr>
          <p:cNvPr id="6" name="Shape 4"/>
          <p:cNvSpPr/>
          <p:nvPr/>
        </p:nvSpPr>
        <p:spPr>
          <a:xfrm>
            <a:off x="521208" y="2212848"/>
            <a:ext cx="1965960" cy="960120"/>
          </a:xfrm>
          <a:prstGeom prst="rect">
            <a:avLst/>
          </a:prstGeom>
          <a:solidFill>
            <a:srgbClr val="003466"/>
          </a:solidFill>
          <a:ln w="12700">
            <a:solidFill>
              <a:srgbClr val="003466"/>
            </a:solidFill>
            <a:prstDash val="solid"/>
          </a:ln>
        </p:spPr>
      </p:sp>
      <p:sp>
        <p:nvSpPr>
          <p:cNvPr id="7" name="Text 5"/>
          <p:cNvSpPr txBox="1"/>
          <p:nvPr/>
        </p:nvSpPr>
        <p:spPr>
          <a:xfrm>
            <a:off x="713232" y="2331720"/>
            <a:ext cx="1645920" cy="292608"/>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Team</a:t>
            </a:r>
            <a:endParaRPr lang="en-US" sz="1500" dirty="0"/>
          </a:p>
        </p:txBody>
      </p:sp>
      <p:sp>
        <p:nvSpPr>
          <p:cNvPr id="8" name="Text 6"/>
          <p:cNvSpPr txBox="1"/>
          <p:nvPr/>
        </p:nvSpPr>
        <p:spPr>
          <a:xfrm>
            <a:off x="713232" y="2633472"/>
            <a:ext cx="1645920" cy="27432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VisionX</a:t>
            </a:r>
            <a:endParaRPr lang="en-US" sz="1400" dirty="0"/>
          </a:p>
        </p:txBody>
      </p:sp>
      <p:sp>
        <p:nvSpPr>
          <p:cNvPr id="9" name="Text 7"/>
          <p:cNvSpPr txBox="1"/>
          <p:nvPr/>
        </p:nvSpPr>
        <p:spPr>
          <a:xfrm>
            <a:off x="2697480" y="2331720"/>
            <a:ext cx="173736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Track</a:t>
            </a:r>
            <a:endParaRPr lang="en-US" sz="1500" dirty="0"/>
          </a:p>
        </p:txBody>
      </p:sp>
      <p:sp>
        <p:nvSpPr>
          <p:cNvPr id="10" name="Text 8"/>
          <p:cNvSpPr txBox="1"/>
          <p:nvPr/>
        </p:nvSpPr>
        <p:spPr>
          <a:xfrm>
            <a:off x="2697480" y="2651760"/>
            <a:ext cx="1920240" cy="548640"/>
          </a:xfrm>
          <a:prstGeom prst="rect">
            <a:avLst/>
          </a:prstGeom>
          <a:noFill/>
          <a:ln/>
        </p:spPr>
        <p:txBody>
          <a:bodyPr wrap="square" lIns="0" tIns="0" rIns="0" bIns="0" rtlCol="0" anchor="ctr"/>
          <a:lstStyle/>
          <a:p>
            <a:pPr algn="l" indent="0" marL="0">
              <a:lnSpc>
                <a:spcPct val="115000"/>
              </a:lnSpc>
              <a:buNone/>
            </a:pPr>
            <a:r>
              <a:rPr lang="en-US" sz="1300" dirty="0">
                <a:solidFill>
                  <a:srgbClr val="FFFFFF"/>
                </a:solidFill>
                <a:latin typeface="Arial" pitchFamily="34" charset="0"/>
                <a:ea typeface="Arial" pitchFamily="34" charset="-122"/>
                <a:cs typeface="Arial" pitchFamily="34" charset="-120"/>
              </a:rPr>
              <a:t>IBM Bob AI Hackathon</a:t>
            </a:r>
            <a:endParaRPr lang="en-US" sz="1300" dirty="0"/>
          </a:p>
        </p:txBody>
      </p:sp>
      <p:sp>
        <p:nvSpPr>
          <p:cNvPr id="11" name="Text 9"/>
          <p:cNvSpPr txBox="1"/>
          <p:nvPr/>
        </p:nvSpPr>
        <p:spPr>
          <a:xfrm>
            <a:off x="4709160" y="2331720"/>
            <a:ext cx="237744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Pipeline Phases</a:t>
            </a:r>
            <a:endParaRPr lang="en-US" sz="1500" dirty="0"/>
          </a:p>
        </p:txBody>
      </p:sp>
      <p:sp>
        <p:nvSpPr>
          <p:cNvPr id="12" name="Text 10"/>
          <p:cNvSpPr txBox="1"/>
          <p:nvPr/>
        </p:nvSpPr>
        <p:spPr>
          <a:xfrm>
            <a:off x="4709160" y="2651760"/>
            <a:ext cx="2468880" cy="548640"/>
          </a:xfrm>
          <a:prstGeom prst="rect">
            <a:avLst/>
          </a:prstGeom>
          <a:noFill/>
          <a:ln/>
        </p:spPr>
        <p:txBody>
          <a:bodyPr wrap="square" lIns="0" tIns="0" rIns="0" bIns="0" rtlCol="0" anchor="ctr"/>
          <a:lstStyle/>
          <a:p>
            <a:pPr algn="l" indent="0" marL="0">
              <a:lnSpc>
                <a:spcPct val="115000"/>
              </a:lnSpc>
              <a:buNone/>
            </a:pPr>
            <a:r>
              <a:rPr lang="en-US" sz="1300" dirty="0">
                <a:solidFill>
                  <a:srgbClr val="FFFFFF"/>
                </a:solidFill>
                <a:latin typeface="Arial" pitchFamily="34" charset="0"/>
                <a:ea typeface="Arial" pitchFamily="34" charset="-122"/>
                <a:cs typeface="Arial" pitchFamily="34" charset="-120"/>
              </a:rPr>
              <a:t>DETECT → PREDICT → EXPLAIN → ACT → PREVENT</a:t>
            </a:r>
            <a:endParaRPr lang="en-US" sz="1300" dirty="0"/>
          </a:p>
        </p:txBody>
      </p:sp>
      <p:sp>
        <p:nvSpPr>
          <p:cNvPr id="13" name="Text 11"/>
          <p:cNvSpPr txBox="1"/>
          <p:nvPr/>
        </p:nvSpPr>
        <p:spPr>
          <a:xfrm>
            <a:off x="7315200" y="2331720"/>
            <a:ext cx="237744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Core Stack</a:t>
            </a:r>
            <a:endParaRPr lang="en-US" sz="1500" dirty="0"/>
          </a:p>
        </p:txBody>
      </p:sp>
      <p:sp>
        <p:nvSpPr>
          <p:cNvPr id="14" name="Text 12"/>
          <p:cNvSpPr txBox="1"/>
          <p:nvPr/>
        </p:nvSpPr>
        <p:spPr>
          <a:xfrm>
            <a:off x="7315200" y="2651760"/>
            <a:ext cx="2926080" cy="548640"/>
          </a:xfrm>
          <a:prstGeom prst="rect">
            <a:avLst/>
          </a:prstGeom>
          <a:noFill/>
          <a:ln/>
        </p:spPr>
        <p:txBody>
          <a:bodyPr wrap="square" lIns="0" tIns="0" rIns="0" bIns="0" rtlCol="0" anchor="ctr"/>
          <a:lstStyle/>
          <a:p>
            <a:pPr algn="l" indent="0" marL="0">
              <a:lnSpc>
                <a:spcPct val="115000"/>
              </a:lnSpc>
              <a:buNone/>
            </a:pPr>
            <a:r>
              <a:rPr lang="en-US" sz="1300" dirty="0">
                <a:solidFill>
                  <a:srgbClr val="FFFFFF"/>
                </a:solidFill>
                <a:latin typeface="Arial" pitchFamily="34" charset="0"/>
                <a:ea typeface="Arial" pitchFamily="34" charset="-122"/>
                <a:cs typeface="Arial" pitchFamily="34" charset="-120"/>
              </a:rPr>
              <a:t>PyTorch · XGBoost · SHAP · watsonx.ai · FastAPI</a:t>
            </a:r>
            <a:endParaRPr lang="en-US" sz="1300" dirty="0"/>
          </a:p>
        </p:txBody>
      </p:sp>
      <p:sp>
        <p:nvSpPr>
          <p:cNvPr id="15" name="Shape 13"/>
          <p:cNvSpPr/>
          <p:nvPr/>
        </p:nvSpPr>
        <p:spPr>
          <a:xfrm>
            <a:off x="521208" y="3429000"/>
            <a:ext cx="3611880" cy="960120"/>
          </a:xfrm>
          <a:prstGeom prst="roundRect">
            <a:avLst>
              <a:gd name="adj" fmla="val 5714"/>
            </a:avLst>
          </a:prstGeom>
          <a:solidFill>
            <a:srgbClr val="444652"/>
          </a:solidFill>
          <a:ln w="12700">
            <a:solidFill>
              <a:srgbClr val="444652"/>
            </a:solidFill>
            <a:prstDash val="solid"/>
          </a:ln>
        </p:spPr>
      </p:sp>
      <p:sp>
        <p:nvSpPr>
          <p:cNvPr id="16" name="Text 14"/>
          <p:cNvSpPr txBox="1"/>
          <p:nvPr/>
        </p:nvSpPr>
        <p:spPr>
          <a:xfrm>
            <a:off x="722376" y="3557016"/>
            <a:ext cx="3209544"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Defect Detection</a:t>
            </a:r>
            <a:endParaRPr lang="en-US" sz="1600" dirty="0"/>
          </a:p>
        </p:txBody>
      </p:sp>
      <p:sp>
        <p:nvSpPr>
          <p:cNvPr id="17" name="Text 15"/>
          <p:cNvSpPr txBox="1"/>
          <p:nvPr/>
        </p:nvSpPr>
        <p:spPr>
          <a:xfrm>
            <a:off x="722376" y="3922776"/>
            <a:ext cx="3209544" cy="411480"/>
          </a:xfrm>
          <a:prstGeom prst="rect">
            <a:avLst/>
          </a:prstGeom>
          <a:noFill/>
          <a:ln/>
        </p:spPr>
        <p:txBody>
          <a:bodyPr wrap="square" lIns="0" tIns="0" rIns="0" bIns="0" rtlCol="0" anchor="ctr"/>
          <a:lstStyle/>
          <a:p>
            <a:pPr indent="0" marL="0">
              <a:lnSpc>
                <a:spcPct val="110000"/>
              </a:lnSpc>
              <a:buNone/>
            </a:pPr>
            <a:r>
              <a:rPr lang="en-US" sz="1250" dirty="0">
                <a:solidFill>
                  <a:srgbClr val="D6D7E0"/>
                </a:solidFill>
                <a:latin typeface="Arial" pitchFamily="34" charset="0"/>
                <a:ea typeface="Arial" pitchFamily="34" charset="-122"/>
                <a:cs typeface="Arial" pitchFamily="34" charset="-120"/>
              </a:rPr>
              <a:t>9-class CNN wafer map classification</a:t>
            </a:r>
            <a:endParaRPr lang="en-US" sz="1250" dirty="0"/>
          </a:p>
        </p:txBody>
      </p:sp>
      <p:sp>
        <p:nvSpPr>
          <p:cNvPr id="18" name="Shape 16"/>
          <p:cNvSpPr/>
          <p:nvPr/>
        </p:nvSpPr>
        <p:spPr>
          <a:xfrm>
            <a:off x="4270248" y="3429000"/>
            <a:ext cx="3611880" cy="960120"/>
          </a:xfrm>
          <a:prstGeom prst="roundRect">
            <a:avLst>
              <a:gd name="adj" fmla="val 5714"/>
            </a:avLst>
          </a:prstGeom>
          <a:solidFill>
            <a:srgbClr val="444652"/>
          </a:solidFill>
          <a:ln w="12700">
            <a:solidFill>
              <a:srgbClr val="444652"/>
            </a:solidFill>
            <a:prstDash val="solid"/>
          </a:ln>
        </p:spPr>
      </p:sp>
      <p:sp>
        <p:nvSpPr>
          <p:cNvPr id="19" name="Text 17"/>
          <p:cNvSpPr txBox="1"/>
          <p:nvPr/>
        </p:nvSpPr>
        <p:spPr>
          <a:xfrm>
            <a:off x="4471416" y="3557016"/>
            <a:ext cx="3209544"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Risk Prediction</a:t>
            </a:r>
            <a:endParaRPr lang="en-US" sz="1600" dirty="0"/>
          </a:p>
        </p:txBody>
      </p:sp>
      <p:sp>
        <p:nvSpPr>
          <p:cNvPr id="20" name="Text 18"/>
          <p:cNvSpPr txBox="1"/>
          <p:nvPr/>
        </p:nvSpPr>
        <p:spPr>
          <a:xfrm>
            <a:off x="4471416" y="3922776"/>
            <a:ext cx="3209544" cy="411480"/>
          </a:xfrm>
          <a:prstGeom prst="rect">
            <a:avLst/>
          </a:prstGeom>
          <a:noFill/>
          <a:ln/>
        </p:spPr>
        <p:txBody>
          <a:bodyPr wrap="square" lIns="0" tIns="0" rIns="0" bIns="0" rtlCol="0" anchor="ctr"/>
          <a:lstStyle/>
          <a:p>
            <a:pPr indent="0" marL="0">
              <a:lnSpc>
                <a:spcPct val="110000"/>
              </a:lnSpc>
              <a:buNone/>
            </a:pPr>
            <a:r>
              <a:rPr lang="en-US" sz="1250" dirty="0">
                <a:solidFill>
                  <a:srgbClr val="D6D7E0"/>
                </a:solidFill>
                <a:latin typeface="Arial" pitchFamily="34" charset="0"/>
                <a:ea typeface="Arial" pitchFamily="34" charset="-122"/>
                <a:cs typeface="Arial" pitchFamily="34" charset="-120"/>
              </a:rPr>
              <a:t>SECOM-based PASS/FAIL process scoring</a:t>
            </a:r>
            <a:endParaRPr lang="en-US" sz="1250" dirty="0"/>
          </a:p>
        </p:txBody>
      </p:sp>
      <p:sp>
        <p:nvSpPr>
          <p:cNvPr id="21" name="Shape 19"/>
          <p:cNvSpPr/>
          <p:nvPr/>
        </p:nvSpPr>
        <p:spPr>
          <a:xfrm>
            <a:off x="8019288" y="3429000"/>
            <a:ext cx="3611880" cy="960120"/>
          </a:xfrm>
          <a:prstGeom prst="roundRect">
            <a:avLst>
              <a:gd name="adj" fmla="val 5714"/>
            </a:avLst>
          </a:prstGeom>
          <a:solidFill>
            <a:srgbClr val="444652"/>
          </a:solidFill>
          <a:ln w="12700">
            <a:solidFill>
              <a:srgbClr val="444652"/>
            </a:solidFill>
            <a:prstDash val="solid"/>
          </a:ln>
        </p:spPr>
      </p:sp>
      <p:sp>
        <p:nvSpPr>
          <p:cNvPr id="22" name="Text 20"/>
          <p:cNvSpPr txBox="1"/>
          <p:nvPr/>
        </p:nvSpPr>
        <p:spPr>
          <a:xfrm>
            <a:off x="8220456" y="3557016"/>
            <a:ext cx="3209544"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Root Cause</a:t>
            </a:r>
            <a:endParaRPr lang="en-US" sz="1600" dirty="0"/>
          </a:p>
        </p:txBody>
      </p:sp>
      <p:sp>
        <p:nvSpPr>
          <p:cNvPr id="23" name="Text 21"/>
          <p:cNvSpPr txBox="1"/>
          <p:nvPr/>
        </p:nvSpPr>
        <p:spPr>
          <a:xfrm>
            <a:off x="8220456" y="3922776"/>
            <a:ext cx="3209544" cy="411480"/>
          </a:xfrm>
          <a:prstGeom prst="rect">
            <a:avLst/>
          </a:prstGeom>
          <a:noFill/>
          <a:ln/>
        </p:spPr>
        <p:txBody>
          <a:bodyPr wrap="square" lIns="0" tIns="0" rIns="0" bIns="0" rtlCol="0" anchor="ctr"/>
          <a:lstStyle/>
          <a:p>
            <a:pPr indent="0" marL="0">
              <a:lnSpc>
                <a:spcPct val="110000"/>
              </a:lnSpc>
              <a:buNone/>
            </a:pPr>
            <a:r>
              <a:rPr lang="en-US" sz="1250" dirty="0">
                <a:solidFill>
                  <a:srgbClr val="D6D7E0"/>
                </a:solidFill>
                <a:latin typeface="Arial" pitchFamily="34" charset="0"/>
                <a:ea typeface="Arial" pitchFamily="34" charset="-122"/>
                <a:cs typeface="Arial" pitchFamily="34" charset="-120"/>
              </a:rPr>
              <a:t>SHAP feature contribution ranking</a:t>
            </a:r>
            <a:endParaRPr lang="en-US" sz="1250" dirty="0"/>
          </a:p>
        </p:txBody>
      </p:sp>
      <p:sp>
        <p:nvSpPr>
          <p:cNvPr id="24" name="Shape 22"/>
          <p:cNvSpPr/>
          <p:nvPr/>
        </p:nvSpPr>
        <p:spPr>
          <a:xfrm>
            <a:off x="521208" y="4526280"/>
            <a:ext cx="5532120" cy="960120"/>
          </a:xfrm>
          <a:prstGeom prst="roundRect">
            <a:avLst>
              <a:gd name="adj" fmla="val 5714"/>
            </a:avLst>
          </a:prstGeom>
          <a:solidFill>
            <a:srgbClr val="444652"/>
          </a:solidFill>
          <a:ln w="12700">
            <a:solidFill>
              <a:srgbClr val="444652"/>
            </a:solidFill>
            <a:prstDash val="solid"/>
          </a:ln>
        </p:spPr>
      </p:sp>
      <p:sp>
        <p:nvSpPr>
          <p:cNvPr id="25" name="Text 23"/>
          <p:cNvSpPr txBox="1"/>
          <p:nvPr/>
        </p:nvSpPr>
        <p:spPr>
          <a:xfrm>
            <a:off x="722376" y="4654296"/>
            <a:ext cx="5129784"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AI Insights</a:t>
            </a:r>
            <a:endParaRPr lang="en-US" sz="1600" dirty="0"/>
          </a:p>
        </p:txBody>
      </p:sp>
      <p:sp>
        <p:nvSpPr>
          <p:cNvPr id="26" name="Text 24"/>
          <p:cNvSpPr txBox="1"/>
          <p:nvPr/>
        </p:nvSpPr>
        <p:spPr>
          <a:xfrm>
            <a:off x="722376" y="5020056"/>
            <a:ext cx="5129784" cy="411480"/>
          </a:xfrm>
          <a:prstGeom prst="rect">
            <a:avLst/>
          </a:prstGeom>
          <a:noFill/>
          <a:ln/>
        </p:spPr>
        <p:txBody>
          <a:bodyPr wrap="square" lIns="0" tIns="0" rIns="0" bIns="0" rtlCol="0" anchor="ctr"/>
          <a:lstStyle/>
          <a:p>
            <a:pPr indent="0" marL="0">
              <a:lnSpc>
                <a:spcPct val="110000"/>
              </a:lnSpc>
              <a:buNone/>
            </a:pPr>
            <a:r>
              <a:rPr lang="en-US" sz="1250" dirty="0">
                <a:solidFill>
                  <a:srgbClr val="D6D7E0"/>
                </a:solidFill>
                <a:latin typeface="Arial" pitchFamily="34" charset="0"/>
                <a:ea typeface="Arial" pitchFamily="34" charset="-122"/>
                <a:cs typeface="Arial" pitchFamily="34" charset="-120"/>
              </a:rPr>
              <a:t>IBM Bob evidence-grounded engineering guidance</a:t>
            </a:r>
            <a:endParaRPr lang="en-US" sz="1250" dirty="0"/>
          </a:p>
        </p:txBody>
      </p:sp>
      <p:sp>
        <p:nvSpPr>
          <p:cNvPr id="27" name="Shape 25"/>
          <p:cNvSpPr/>
          <p:nvPr/>
        </p:nvSpPr>
        <p:spPr>
          <a:xfrm>
            <a:off x="6190488" y="4526280"/>
            <a:ext cx="5532120" cy="960120"/>
          </a:xfrm>
          <a:prstGeom prst="roundRect">
            <a:avLst>
              <a:gd name="adj" fmla="val 5714"/>
            </a:avLst>
          </a:prstGeom>
          <a:solidFill>
            <a:srgbClr val="444652"/>
          </a:solidFill>
          <a:ln w="12700">
            <a:solidFill>
              <a:srgbClr val="444652"/>
            </a:solidFill>
            <a:prstDash val="solid"/>
          </a:ln>
        </p:spPr>
      </p:sp>
      <p:sp>
        <p:nvSpPr>
          <p:cNvPr id="28" name="Text 26"/>
          <p:cNvSpPr txBox="1"/>
          <p:nvPr/>
        </p:nvSpPr>
        <p:spPr>
          <a:xfrm>
            <a:off x="6391656" y="4654296"/>
            <a:ext cx="5129784"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Batch Guard</a:t>
            </a:r>
            <a:endParaRPr lang="en-US" sz="1600" dirty="0"/>
          </a:p>
        </p:txBody>
      </p:sp>
      <p:sp>
        <p:nvSpPr>
          <p:cNvPr id="29" name="Text 27"/>
          <p:cNvSpPr txBox="1"/>
          <p:nvPr/>
        </p:nvSpPr>
        <p:spPr>
          <a:xfrm>
            <a:off x="6391656" y="5020056"/>
            <a:ext cx="5129784" cy="411480"/>
          </a:xfrm>
          <a:prstGeom prst="rect">
            <a:avLst/>
          </a:prstGeom>
          <a:noFill/>
          <a:ln/>
        </p:spPr>
        <p:txBody>
          <a:bodyPr wrap="square" lIns="0" tIns="0" rIns="0" bIns="0" rtlCol="0" anchor="ctr"/>
          <a:lstStyle/>
          <a:p>
            <a:pPr indent="0" marL="0">
              <a:lnSpc>
                <a:spcPct val="110000"/>
              </a:lnSpc>
              <a:buNone/>
            </a:pPr>
            <a:r>
              <a:rPr lang="en-US" sz="1250" dirty="0">
                <a:solidFill>
                  <a:srgbClr val="D6D7E0"/>
                </a:solidFill>
                <a:latin typeface="Arial" pitchFamily="34" charset="0"/>
                <a:ea typeface="Arial" pitchFamily="34" charset="-122"/>
                <a:cs typeface="Arial" pitchFamily="34" charset="-120"/>
              </a:rPr>
              <a:t>Pre-production risk monitoring &amp; hold logic</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57200"/>
            <a:ext cx="11155680" cy="548640"/>
          </a:xfrm>
          <a:prstGeom prst="rect">
            <a:avLst/>
          </a:prstGeom>
          <a:noFill/>
          <a:ln/>
        </p:spPr>
        <p:txBody>
          <a:bodyPr wrap="square" lIns="0" tIns="0" rIns="0" bIns="0" rtlCol="0" anchor="ctr"/>
          <a:lstStyle/>
          <a:p>
            <a:pPr algn="l" indent="0" marL="0">
              <a:buNone/>
            </a:pPr>
            <a:r>
              <a:rPr lang="en-US" sz="3000" dirty="0">
                <a:solidFill>
                  <a:srgbClr val="F589C9"/>
                </a:solidFill>
                <a:latin typeface="Georgia" pitchFamily="34" charset="0"/>
                <a:ea typeface="Georgia" pitchFamily="34" charset="-122"/>
                <a:cs typeface="Georgia" pitchFamily="34" charset="-120"/>
              </a:rPr>
              <a:t>The Semiconductor Yield Problem</a:t>
            </a:r>
            <a:endParaRPr lang="en-US" sz="3000" dirty="0"/>
          </a:p>
        </p:txBody>
      </p:sp>
      <p:sp>
        <p:nvSpPr>
          <p:cNvPr id="3" name="Text 1"/>
          <p:cNvSpPr txBox="1"/>
          <p:nvPr/>
        </p:nvSpPr>
        <p:spPr>
          <a:xfrm>
            <a:off x="521208" y="1097280"/>
            <a:ext cx="11155680" cy="640080"/>
          </a:xfrm>
          <a:prstGeom prst="rect">
            <a:avLst/>
          </a:prstGeom>
          <a:noFill/>
          <a:ln/>
        </p:spPr>
        <p:txBody>
          <a:bodyPr wrap="square" lIns="0" tIns="0" rIns="0" bIns="0" rtlCol="0" anchor="ctr"/>
          <a:lstStyle/>
          <a:p>
            <a:pPr algn="l" indent="0" marL="0">
              <a:lnSpc>
                <a:spcPct val="115000"/>
              </a:lnSpc>
              <a:buNone/>
            </a:pPr>
            <a:r>
              <a:rPr lang="en-US" sz="1300" dirty="0">
                <a:solidFill>
                  <a:srgbClr val="D6D7E0"/>
                </a:solidFill>
                <a:latin typeface="Arial" pitchFamily="34" charset="0"/>
                <a:ea typeface="Arial" pitchFamily="34" charset="-122"/>
                <a:cs typeface="Arial" pitchFamily="34" charset="-120"/>
              </a:rPr>
              <a:t>Advanced-node manufacturing at 3nm and 5nm introduces extreme sensitivity to process variation. Yield losses at these nodes carry disproportionate cost impact — yet the defect signals that drive those losses remain difficult to isolate, correlate, and act on in real time.</a:t>
            </a:r>
            <a:endParaRPr lang="en-US" sz="1300" dirty="0"/>
          </a:p>
        </p:txBody>
      </p:sp>
      <p:sp>
        <p:nvSpPr>
          <p:cNvPr id="4" name="Shape 2"/>
          <p:cNvSpPr/>
          <p:nvPr/>
        </p:nvSpPr>
        <p:spPr>
          <a:xfrm>
            <a:off x="521208" y="1965960"/>
            <a:ext cx="3611880" cy="1417320"/>
          </a:xfrm>
          <a:prstGeom prst="rect">
            <a:avLst/>
          </a:prstGeom>
          <a:solidFill>
            <a:srgbClr val="252733"/>
          </a:solidFill>
          <a:ln w="12700">
            <a:solidFill>
              <a:srgbClr val="5C5E70"/>
            </a:solidFill>
            <a:prstDash val="solid"/>
          </a:ln>
        </p:spPr>
      </p:sp>
      <p:pic>
        <p:nvPicPr>
          <p:cNvPr id="5" name="Image 0" descr="grad_vert.png">    </p:cNvPr>
          <p:cNvPicPr>
            <a:picLocks noChangeAspect="1"/>
          </p:cNvPicPr>
          <p:nvPr/>
        </p:nvPicPr>
        <p:blipFill>
          <a:blip r:embed="rId1"/>
          <a:stretch>
            <a:fillRect/>
          </a:stretch>
        </p:blipFill>
        <p:spPr>
          <a:xfrm>
            <a:off x="521208" y="1965960"/>
            <a:ext cx="54864" cy="1417320"/>
          </a:xfrm>
          <a:prstGeom prst="rect">
            <a:avLst/>
          </a:prstGeom>
        </p:spPr>
      </p:pic>
      <p:sp>
        <p:nvSpPr>
          <p:cNvPr id="6" name="Text 3"/>
          <p:cNvSpPr txBox="1"/>
          <p:nvPr/>
        </p:nvSpPr>
        <p:spPr>
          <a:xfrm>
            <a:off x="722376" y="2093976"/>
            <a:ext cx="3246120"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Advanced-Node Cost Exposure</a:t>
            </a:r>
            <a:endParaRPr lang="en-US" sz="1400" dirty="0"/>
          </a:p>
        </p:txBody>
      </p:sp>
      <p:sp>
        <p:nvSpPr>
          <p:cNvPr id="7" name="Text 4"/>
          <p:cNvSpPr txBox="1"/>
          <p:nvPr/>
        </p:nvSpPr>
        <p:spPr>
          <a:xfrm>
            <a:off x="722376" y="2551176"/>
            <a:ext cx="3246120" cy="704088"/>
          </a:xfrm>
          <a:prstGeom prst="rect">
            <a:avLst/>
          </a:prstGeom>
          <a:noFill/>
          <a:ln/>
        </p:spPr>
        <p:txBody>
          <a:bodyPr wrap="square" lIns="0" tIns="0" rIns="0" bIns="0" rtlCol="0" anchor="ctr"/>
          <a:lstStyle/>
          <a:p>
            <a:pPr indent="0" marL="0">
              <a:lnSpc>
                <a:spcPct val="105000"/>
              </a:lnSpc>
              <a:buNone/>
            </a:pPr>
            <a:r>
              <a:rPr lang="en-US" sz="1100" dirty="0">
                <a:solidFill>
                  <a:srgbClr val="D6D7E0"/>
                </a:solidFill>
                <a:latin typeface="Arial" pitchFamily="34" charset="0"/>
                <a:ea typeface="Arial" pitchFamily="34" charset="-122"/>
                <a:cs typeface="Arial" pitchFamily="34" charset="-120"/>
              </a:rPr>
              <a:t>At 3nm/5nm geometries, each incremental percentage of yield loss translates to significant wafer-level cost. Defects that would be tolerable at mature nodes become economically critical at leading edge.</a:t>
            </a:r>
            <a:endParaRPr lang="en-US" sz="1100" dirty="0"/>
          </a:p>
        </p:txBody>
      </p:sp>
      <p:sp>
        <p:nvSpPr>
          <p:cNvPr id="8" name="Shape 5"/>
          <p:cNvSpPr/>
          <p:nvPr/>
        </p:nvSpPr>
        <p:spPr>
          <a:xfrm>
            <a:off x="4270248" y="1965960"/>
            <a:ext cx="3611880" cy="1417320"/>
          </a:xfrm>
          <a:prstGeom prst="rect">
            <a:avLst/>
          </a:prstGeom>
          <a:solidFill>
            <a:srgbClr val="252733"/>
          </a:solidFill>
          <a:ln w="12700">
            <a:solidFill>
              <a:srgbClr val="5C5E70"/>
            </a:solidFill>
            <a:prstDash val="solid"/>
          </a:ln>
        </p:spPr>
      </p:sp>
      <p:pic>
        <p:nvPicPr>
          <p:cNvPr id="9" name="Image 1" descr="grad_vert.png">    </p:cNvPr>
          <p:cNvPicPr>
            <a:picLocks noChangeAspect="1"/>
          </p:cNvPicPr>
          <p:nvPr/>
        </p:nvPicPr>
        <p:blipFill>
          <a:blip r:embed="rId2"/>
          <a:stretch>
            <a:fillRect/>
          </a:stretch>
        </p:blipFill>
        <p:spPr>
          <a:xfrm>
            <a:off x="4270248" y="1965960"/>
            <a:ext cx="54864" cy="1417320"/>
          </a:xfrm>
          <a:prstGeom prst="rect">
            <a:avLst/>
          </a:prstGeom>
        </p:spPr>
      </p:pic>
      <p:sp>
        <p:nvSpPr>
          <p:cNvPr id="10" name="Text 6"/>
          <p:cNvSpPr txBox="1"/>
          <p:nvPr/>
        </p:nvSpPr>
        <p:spPr>
          <a:xfrm>
            <a:off x="4471416" y="2093976"/>
            <a:ext cx="3246120"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Hidden Defect Patterns</a:t>
            </a:r>
            <a:endParaRPr lang="en-US" sz="1400" dirty="0"/>
          </a:p>
        </p:txBody>
      </p:sp>
      <p:sp>
        <p:nvSpPr>
          <p:cNvPr id="11" name="Text 7"/>
          <p:cNvSpPr txBox="1"/>
          <p:nvPr/>
        </p:nvSpPr>
        <p:spPr>
          <a:xfrm>
            <a:off x="4471416" y="2551176"/>
            <a:ext cx="3246120" cy="704088"/>
          </a:xfrm>
          <a:prstGeom prst="rect">
            <a:avLst/>
          </a:prstGeom>
          <a:noFill/>
          <a:ln/>
        </p:spPr>
        <p:txBody>
          <a:bodyPr wrap="square" lIns="0" tIns="0" rIns="0" bIns="0" rtlCol="0" anchor="ctr"/>
          <a:lstStyle/>
          <a:p>
            <a:pPr indent="0" marL="0">
              <a:lnSpc>
                <a:spcPct val="105000"/>
              </a:lnSpc>
              <a:buNone/>
            </a:pPr>
            <a:r>
              <a:rPr lang="en-US" sz="1100" dirty="0">
                <a:solidFill>
                  <a:srgbClr val="D6D7E0"/>
                </a:solidFill>
                <a:latin typeface="Arial" pitchFamily="34" charset="0"/>
                <a:ea typeface="Arial" pitchFamily="34" charset="-122"/>
                <a:cs typeface="Arial" pitchFamily="34" charset="-120"/>
              </a:rPr>
              <a:t>Micro-defects manifest as spatial patterns on wafer maps — Edge-Ring, Scratch, Donut, Center — that are difficult to identify consistently across disparate inspection datasets without automated classification.</a:t>
            </a:r>
            <a:endParaRPr lang="en-US" sz="1100" dirty="0"/>
          </a:p>
        </p:txBody>
      </p:sp>
      <p:sp>
        <p:nvSpPr>
          <p:cNvPr id="12" name="Shape 8"/>
          <p:cNvSpPr/>
          <p:nvPr/>
        </p:nvSpPr>
        <p:spPr>
          <a:xfrm>
            <a:off x="8019288" y="1965960"/>
            <a:ext cx="3611880" cy="1417320"/>
          </a:xfrm>
          <a:prstGeom prst="rect">
            <a:avLst/>
          </a:prstGeom>
          <a:solidFill>
            <a:srgbClr val="252733"/>
          </a:solidFill>
          <a:ln w="12700">
            <a:solidFill>
              <a:srgbClr val="5C5E70"/>
            </a:solidFill>
            <a:prstDash val="solid"/>
          </a:ln>
        </p:spPr>
      </p:sp>
      <p:pic>
        <p:nvPicPr>
          <p:cNvPr id="13" name="Image 2" descr="grad_vert.png">    </p:cNvPr>
          <p:cNvPicPr>
            <a:picLocks noChangeAspect="1"/>
          </p:cNvPicPr>
          <p:nvPr/>
        </p:nvPicPr>
        <p:blipFill>
          <a:blip r:embed="rId3"/>
          <a:stretch>
            <a:fillRect/>
          </a:stretch>
        </p:blipFill>
        <p:spPr>
          <a:xfrm>
            <a:off x="8019288" y="1965960"/>
            <a:ext cx="54864" cy="1417320"/>
          </a:xfrm>
          <a:prstGeom prst="rect">
            <a:avLst/>
          </a:prstGeom>
        </p:spPr>
      </p:pic>
      <p:sp>
        <p:nvSpPr>
          <p:cNvPr id="14" name="Text 9"/>
          <p:cNvSpPr txBox="1"/>
          <p:nvPr/>
        </p:nvSpPr>
        <p:spPr>
          <a:xfrm>
            <a:off x="8220456" y="2093976"/>
            <a:ext cx="3246120"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Process Anomaly Correlation</a:t>
            </a:r>
            <a:endParaRPr lang="en-US" sz="1400" dirty="0"/>
          </a:p>
        </p:txBody>
      </p:sp>
      <p:sp>
        <p:nvSpPr>
          <p:cNvPr id="15" name="Text 10"/>
          <p:cNvSpPr txBox="1"/>
          <p:nvPr/>
        </p:nvSpPr>
        <p:spPr>
          <a:xfrm>
            <a:off x="8220456" y="2551176"/>
            <a:ext cx="3246120" cy="704088"/>
          </a:xfrm>
          <a:prstGeom prst="rect">
            <a:avLst/>
          </a:prstGeom>
          <a:noFill/>
          <a:ln/>
        </p:spPr>
        <p:txBody>
          <a:bodyPr wrap="square" lIns="0" tIns="0" rIns="0" bIns="0" rtlCol="0" anchor="ctr"/>
          <a:lstStyle/>
          <a:p>
            <a:pPr indent="0" marL="0">
              <a:lnSpc>
                <a:spcPct val="105000"/>
              </a:lnSpc>
              <a:buNone/>
            </a:pPr>
            <a:r>
              <a:rPr lang="en-US" sz="1100" dirty="0">
                <a:solidFill>
                  <a:srgbClr val="D6D7E0"/>
                </a:solidFill>
                <a:latin typeface="Arial" pitchFamily="34" charset="0"/>
                <a:ea typeface="Arial" pitchFamily="34" charset="-122"/>
                <a:cs typeface="Arial" pitchFamily="34" charset="-120"/>
              </a:rPr>
              <a:t>Out-of-control sensor signals in the SECOM process parameter space correlate with downstream failures, but tracing which of hundreds of features is the leading driver requires systematic explainability — not manual trial-and-error.</a:t>
            </a:r>
            <a:endParaRPr lang="en-US" sz="1100" dirty="0"/>
          </a:p>
        </p:txBody>
      </p:sp>
      <p:sp>
        <p:nvSpPr>
          <p:cNvPr id="16" name="Shape 11"/>
          <p:cNvSpPr/>
          <p:nvPr/>
        </p:nvSpPr>
        <p:spPr>
          <a:xfrm>
            <a:off x="521208" y="3520440"/>
            <a:ext cx="3611880" cy="1417320"/>
          </a:xfrm>
          <a:prstGeom prst="rect">
            <a:avLst/>
          </a:prstGeom>
          <a:solidFill>
            <a:srgbClr val="252733"/>
          </a:solidFill>
          <a:ln w="12700">
            <a:solidFill>
              <a:srgbClr val="5C5E70"/>
            </a:solidFill>
            <a:prstDash val="solid"/>
          </a:ln>
        </p:spPr>
      </p:sp>
      <p:pic>
        <p:nvPicPr>
          <p:cNvPr id="17" name="Image 3" descr="grad_vert.png">    </p:cNvPr>
          <p:cNvPicPr>
            <a:picLocks noChangeAspect="1"/>
          </p:cNvPicPr>
          <p:nvPr/>
        </p:nvPicPr>
        <p:blipFill>
          <a:blip r:embed="rId4"/>
          <a:stretch>
            <a:fillRect/>
          </a:stretch>
        </p:blipFill>
        <p:spPr>
          <a:xfrm>
            <a:off x="521208" y="3520440"/>
            <a:ext cx="54864" cy="1417320"/>
          </a:xfrm>
          <a:prstGeom prst="rect">
            <a:avLst/>
          </a:prstGeom>
        </p:spPr>
      </p:pic>
      <p:sp>
        <p:nvSpPr>
          <p:cNvPr id="18" name="Text 12"/>
          <p:cNvSpPr txBox="1"/>
          <p:nvPr/>
        </p:nvSpPr>
        <p:spPr>
          <a:xfrm>
            <a:off x="722376" y="3648456"/>
            <a:ext cx="3246120"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Manual Investigation Burden</a:t>
            </a:r>
            <a:endParaRPr lang="en-US" sz="1400" dirty="0"/>
          </a:p>
        </p:txBody>
      </p:sp>
      <p:sp>
        <p:nvSpPr>
          <p:cNvPr id="19" name="Text 13"/>
          <p:cNvSpPr txBox="1"/>
          <p:nvPr/>
        </p:nvSpPr>
        <p:spPr>
          <a:xfrm>
            <a:off x="722376" y="4105656"/>
            <a:ext cx="3246120" cy="704088"/>
          </a:xfrm>
          <a:prstGeom prst="rect">
            <a:avLst/>
          </a:prstGeom>
          <a:noFill/>
          <a:ln/>
        </p:spPr>
        <p:txBody>
          <a:bodyPr wrap="square" lIns="0" tIns="0" rIns="0" bIns="0" rtlCol="0" anchor="ctr"/>
          <a:lstStyle/>
          <a:p>
            <a:pPr indent="0" marL="0">
              <a:lnSpc>
                <a:spcPct val="105000"/>
              </a:lnSpc>
              <a:buNone/>
            </a:pPr>
            <a:r>
              <a:rPr lang="en-US" sz="1100" dirty="0">
                <a:solidFill>
                  <a:srgbClr val="D6D7E0"/>
                </a:solidFill>
                <a:latin typeface="Arial" pitchFamily="34" charset="0"/>
                <a:ea typeface="Arial" pitchFamily="34" charset="-122"/>
                <a:cs typeface="Arial" pitchFamily="34" charset="-120"/>
              </a:rPr>
              <a:t>Process engineers spend significant time correlating wafer defect maps with process parameter logs. Each investigation cycle delays corrective action, extending the window during which additional wafers are exposed to the same root cause.</a:t>
            </a:r>
            <a:endParaRPr lang="en-US" sz="1100" dirty="0"/>
          </a:p>
        </p:txBody>
      </p:sp>
      <p:sp>
        <p:nvSpPr>
          <p:cNvPr id="20" name="Shape 14"/>
          <p:cNvSpPr/>
          <p:nvPr/>
        </p:nvSpPr>
        <p:spPr>
          <a:xfrm>
            <a:off x="4270248" y="3520440"/>
            <a:ext cx="3611880" cy="1417320"/>
          </a:xfrm>
          <a:prstGeom prst="rect">
            <a:avLst/>
          </a:prstGeom>
          <a:solidFill>
            <a:srgbClr val="252733"/>
          </a:solidFill>
          <a:ln w="12700">
            <a:solidFill>
              <a:srgbClr val="5C5E70"/>
            </a:solidFill>
            <a:prstDash val="solid"/>
          </a:ln>
        </p:spPr>
      </p:sp>
      <p:pic>
        <p:nvPicPr>
          <p:cNvPr id="21" name="Image 4" descr="grad_vert.png">    </p:cNvPr>
          <p:cNvPicPr>
            <a:picLocks noChangeAspect="1"/>
          </p:cNvPicPr>
          <p:nvPr/>
        </p:nvPicPr>
        <p:blipFill>
          <a:blip r:embed="rId5"/>
          <a:stretch>
            <a:fillRect/>
          </a:stretch>
        </p:blipFill>
        <p:spPr>
          <a:xfrm>
            <a:off x="4270248" y="3520440"/>
            <a:ext cx="54864" cy="1417320"/>
          </a:xfrm>
          <a:prstGeom prst="rect">
            <a:avLst/>
          </a:prstGeom>
        </p:spPr>
      </p:pic>
      <p:sp>
        <p:nvSpPr>
          <p:cNvPr id="22" name="Text 15"/>
          <p:cNvSpPr txBox="1"/>
          <p:nvPr/>
        </p:nvSpPr>
        <p:spPr>
          <a:xfrm>
            <a:off x="4471416" y="3648456"/>
            <a:ext cx="3246120"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Preventive Gap</a:t>
            </a:r>
            <a:endParaRPr lang="en-US" sz="1400" dirty="0"/>
          </a:p>
        </p:txBody>
      </p:sp>
      <p:sp>
        <p:nvSpPr>
          <p:cNvPr id="23" name="Text 16"/>
          <p:cNvSpPr txBox="1"/>
          <p:nvPr/>
        </p:nvSpPr>
        <p:spPr>
          <a:xfrm>
            <a:off x="4471416" y="4105656"/>
            <a:ext cx="3246120" cy="704088"/>
          </a:xfrm>
          <a:prstGeom prst="rect">
            <a:avLst/>
          </a:prstGeom>
          <a:noFill/>
          <a:ln/>
        </p:spPr>
        <p:txBody>
          <a:bodyPr wrap="square" lIns="0" tIns="0" rIns="0" bIns="0" rtlCol="0" anchor="ctr"/>
          <a:lstStyle/>
          <a:p>
            <a:pPr indent="0" marL="0">
              <a:lnSpc>
                <a:spcPct val="105000"/>
              </a:lnSpc>
              <a:buNone/>
            </a:pPr>
            <a:r>
              <a:rPr lang="en-US" sz="1100" dirty="0">
                <a:solidFill>
                  <a:srgbClr val="D6D7E0"/>
                </a:solidFill>
                <a:latin typeface="Arial" pitchFamily="34" charset="0"/>
                <a:ea typeface="Arial" pitchFamily="34" charset="-122"/>
                <a:cs typeface="Arial" pitchFamily="34" charset="-120"/>
              </a:rPr>
              <a:t>Upcoming production batches may carry elevated risk inherited from similar process conditions — yet without pre-screening, this risk is only discovered after manufacturing execution, when intervention is more costly.</a:t>
            </a:r>
            <a:endParaRPr lang="en-US" sz="1100" dirty="0"/>
          </a:p>
        </p:txBody>
      </p:sp>
      <p:sp>
        <p:nvSpPr>
          <p:cNvPr id="24" name="Shape 17"/>
          <p:cNvSpPr/>
          <p:nvPr/>
        </p:nvSpPr>
        <p:spPr>
          <a:xfrm>
            <a:off x="521208" y="5074920"/>
            <a:ext cx="11155680" cy="594360"/>
          </a:xfrm>
          <a:prstGeom prst="roundRect">
            <a:avLst>
              <a:gd name="adj" fmla="val 7692"/>
            </a:avLst>
          </a:prstGeom>
          <a:solidFill>
            <a:srgbClr val="741847"/>
          </a:solidFill>
          <a:ln w="12700">
            <a:solidFill>
              <a:srgbClr val="741847"/>
            </a:solidFill>
            <a:prstDash val="solid"/>
          </a:ln>
        </p:spPr>
      </p:sp>
      <p:sp>
        <p:nvSpPr>
          <p:cNvPr id="25" name="Text 18"/>
          <p:cNvSpPr txBox="1"/>
          <p:nvPr/>
        </p:nvSpPr>
        <p:spPr>
          <a:xfrm>
            <a:off x="685800" y="5193792"/>
            <a:ext cx="320040"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sp>
        <p:nvSpPr>
          <p:cNvPr id="26" name="Text 19"/>
          <p:cNvSpPr txBox="1"/>
          <p:nvPr/>
        </p:nvSpPr>
        <p:spPr>
          <a:xfrm>
            <a:off x="1051560" y="5193792"/>
            <a:ext cx="10424160" cy="36576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S1 Analyzer addresses all five failure modes through an integrated five-phase AI pipeline — from pattern detection to preventive batch screening.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57200"/>
            <a:ext cx="11155680" cy="548640"/>
          </a:xfrm>
          <a:prstGeom prst="rect">
            <a:avLst/>
          </a:prstGeom>
          <a:noFill/>
          <a:ln/>
        </p:spPr>
        <p:txBody>
          <a:bodyPr wrap="square" lIns="0" tIns="0" rIns="0" bIns="0" rtlCol="0" anchor="ctr"/>
          <a:lstStyle/>
          <a:p>
            <a:pPr algn="l" indent="0" marL="0">
              <a:buNone/>
            </a:pPr>
            <a:r>
              <a:rPr lang="en-US" sz="3000" dirty="0">
                <a:solidFill>
                  <a:srgbClr val="F589C9"/>
                </a:solidFill>
                <a:latin typeface="Georgia" pitchFamily="34" charset="0"/>
                <a:ea typeface="Georgia" pitchFamily="34" charset="-122"/>
                <a:cs typeface="Georgia" pitchFamily="34" charset="-120"/>
              </a:rPr>
              <a:t>VisionX S1 Analyzer: Five-Phase Pipeline</a:t>
            </a:r>
            <a:endParaRPr lang="en-US" sz="3000" dirty="0"/>
          </a:p>
        </p:txBody>
      </p:sp>
      <p:sp>
        <p:nvSpPr>
          <p:cNvPr id="3" name="Text 1"/>
          <p:cNvSpPr txBox="1"/>
          <p:nvPr/>
        </p:nvSpPr>
        <p:spPr>
          <a:xfrm>
            <a:off x="521208" y="1097280"/>
            <a:ext cx="11155680" cy="548640"/>
          </a:xfrm>
          <a:prstGeom prst="rect">
            <a:avLst/>
          </a:prstGeom>
          <a:noFill/>
          <a:ln/>
        </p:spPr>
        <p:txBody>
          <a:bodyPr wrap="square" lIns="0" tIns="0" rIns="0" bIns="0" rtlCol="0" anchor="ctr"/>
          <a:lstStyle/>
          <a:p>
            <a:pPr algn="l" indent="0" marL="0">
              <a:lnSpc>
                <a:spcPct val="115000"/>
              </a:lnSpc>
              <a:buNone/>
            </a:pPr>
            <a:r>
              <a:rPr lang="en-US" sz="1300" dirty="0">
                <a:solidFill>
                  <a:srgbClr val="D6D7E0"/>
                </a:solidFill>
                <a:latin typeface="Arial" pitchFamily="34" charset="0"/>
                <a:ea typeface="Arial" pitchFamily="34" charset="-122"/>
                <a:cs typeface="Arial" pitchFamily="34" charset="-120"/>
              </a:rPr>
              <a:t>The S1 Analyzer is structured as a sequential, evidence-accumulating pipeline. Each phase produces verifiable outputs that serve as grounded inputs to the next — ensuring no inference step operates without validated ML evidence.</a:t>
            </a:r>
            <a:endParaRPr lang="en-US" sz="1300" dirty="0"/>
          </a:p>
        </p:txBody>
      </p:sp>
      <p:sp>
        <p:nvSpPr>
          <p:cNvPr id="4" name="Shape 2"/>
          <p:cNvSpPr/>
          <p:nvPr/>
        </p:nvSpPr>
        <p:spPr>
          <a:xfrm>
            <a:off x="521208" y="1965960"/>
            <a:ext cx="3611880" cy="457200"/>
          </a:xfrm>
          <a:prstGeom prst="chevron">
            <a:avLst/>
          </a:prstGeom>
          <a:solidFill>
            <a:srgbClr val="5A5D70"/>
          </a:solidFill>
          <a:ln w="12700">
            <a:solidFill>
              <a:srgbClr val="5A5D70"/>
            </a:solidFill>
            <a:prstDash val="solid"/>
          </a:ln>
        </p:spPr>
      </p:sp>
      <p:sp>
        <p:nvSpPr>
          <p:cNvPr id="5" name="Text 3"/>
          <p:cNvSpPr txBox="1"/>
          <p:nvPr/>
        </p:nvSpPr>
        <p:spPr>
          <a:xfrm>
            <a:off x="521208" y="1965960"/>
            <a:ext cx="361188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521208" y="2532888"/>
            <a:ext cx="3611880" cy="274320"/>
          </a:xfrm>
          <a:prstGeom prst="rect">
            <a:avLst/>
          </a:prstGeom>
          <a:noFill/>
          <a:ln/>
        </p:spPr>
        <p:txBody>
          <a:bodyPr wrap="square" lIns="0" tIns="0" rIns="0" bIns="0" rtlCol="0" anchor="ctr"/>
          <a:lstStyle/>
          <a:p>
            <a:pPr indent="0" marL="0">
              <a:buNone/>
            </a:pPr>
            <a:r>
              <a:rPr lang="en-US" sz="1400" b="1" dirty="0">
                <a:solidFill>
                  <a:srgbClr val="1EA0C4"/>
                </a:solidFill>
                <a:latin typeface="Arial" pitchFamily="34" charset="0"/>
                <a:ea typeface="Arial" pitchFamily="34" charset="-122"/>
                <a:cs typeface="Arial" pitchFamily="34" charset="-120"/>
              </a:rPr>
              <a:t>DETECT</a:t>
            </a:r>
            <a:endParaRPr lang="en-US" sz="1400" dirty="0"/>
          </a:p>
        </p:txBody>
      </p:sp>
      <p:sp>
        <p:nvSpPr>
          <p:cNvPr id="7" name="Text 5"/>
          <p:cNvSpPr txBox="1"/>
          <p:nvPr/>
        </p:nvSpPr>
        <p:spPr>
          <a:xfrm>
            <a:off x="521208" y="2807208"/>
            <a:ext cx="36118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Identify wafer defect patterns using trained CNN model on grayscale wafer map images</a:t>
            </a:r>
            <a:endParaRPr lang="en-US" sz="1100" dirty="0"/>
          </a:p>
        </p:txBody>
      </p:sp>
      <p:sp>
        <p:nvSpPr>
          <p:cNvPr id="8" name="Shape 6"/>
          <p:cNvSpPr/>
          <p:nvPr/>
        </p:nvSpPr>
        <p:spPr>
          <a:xfrm>
            <a:off x="4270248" y="1965960"/>
            <a:ext cx="3611880" cy="457200"/>
          </a:xfrm>
          <a:prstGeom prst="chevron">
            <a:avLst/>
          </a:prstGeom>
          <a:solidFill>
            <a:srgbClr val="5A5D70"/>
          </a:solidFill>
          <a:ln w="12700">
            <a:solidFill>
              <a:srgbClr val="5A5D70"/>
            </a:solidFill>
            <a:prstDash val="solid"/>
          </a:ln>
        </p:spPr>
      </p:sp>
      <p:sp>
        <p:nvSpPr>
          <p:cNvPr id="9" name="Text 7"/>
          <p:cNvSpPr txBox="1"/>
          <p:nvPr/>
        </p:nvSpPr>
        <p:spPr>
          <a:xfrm>
            <a:off x="4270248" y="1965960"/>
            <a:ext cx="361188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4270248" y="2532888"/>
            <a:ext cx="3611880" cy="274320"/>
          </a:xfrm>
          <a:prstGeom prst="rect">
            <a:avLst/>
          </a:prstGeom>
          <a:noFill/>
          <a:ln/>
        </p:spPr>
        <p:txBody>
          <a:bodyPr wrap="square" lIns="0" tIns="0" rIns="0" bIns="0" rtlCol="0" anchor="ctr"/>
          <a:lstStyle/>
          <a:p>
            <a:pPr indent="0" marL="0">
              <a:buNone/>
            </a:pPr>
            <a:r>
              <a:rPr lang="en-US" sz="1400" b="1" dirty="0">
                <a:solidFill>
                  <a:srgbClr val="1EA0C4"/>
                </a:solidFill>
                <a:latin typeface="Arial" pitchFamily="34" charset="0"/>
                <a:ea typeface="Arial" pitchFamily="34" charset="-122"/>
                <a:cs typeface="Arial" pitchFamily="34" charset="-120"/>
              </a:rPr>
              <a:t>PREDICT</a:t>
            </a:r>
            <a:endParaRPr lang="en-US" sz="1400" dirty="0"/>
          </a:p>
        </p:txBody>
      </p:sp>
      <p:sp>
        <p:nvSpPr>
          <p:cNvPr id="11" name="Text 9"/>
          <p:cNvSpPr txBox="1"/>
          <p:nvPr/>
        </p:nvSpPr>
        <p:spPr>
          <a:xfrm>
            <a:off x="4270248" y="2807208"/>
            <a:ext cx="36118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Assess process risk using SECOM classifier on 24 sensor/process parameter features</a:t>
            </a:r>
            <a:endParaRPr lang="en-US" sz="1100" dirty="0"/>
          </a:p>
        </p:txBody>
      </p:sp>
      <p:sp>
        <p:nvSpPr>
          <p:cNvPr id="12" name="Shape 10"/>
          <p:cNvSpPr/>
          <p:nvPr/>
        </p:nvSpPr>
        <p:spPr>
          <a:xfrm>
            <a:off x="8019288" y="1965960"/>
            <a:ext cx="3611880" cy="457200"/>
          </a:xfrm>
          <a:prstGeom prst="chevron">
            <a:avLst/>
          </a:prstGeom>
          <a:solidFill>
            <a:srgbClr val="5A5D70"/>
          </a:solidFill>
          <a:ln w="12700">
            <a:solidFill>
              <a:srgbClr val="5A5D70"/>
            </a:solidFill>
            <a:prstDash val="solid"/>
          </a:ln>
        </p:spPr>
      </p:sp>
      <p:sp>
        <p:nvSpPr>
          <p:cNvPr id="13" name="Text 11"/>
          <p:cNvSpPr txBox="1"/>
          <p:nvPr/>
        </p:nvSpPr>
        <p:spPr>
          <a:xfrm>
            <a:off x="8019288" y="1965960"/>
            <a:ext cx="361188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8019288" y="2532888"/>
            <a:ext cx="3611880" cy="274320"/>
          </a:xfrm>
          <a:prstGeom prst="rect">
            <a:avLst/>
          </a:prstGeom>
          <a:noFill/>
          <a:ln/>
        </p:spPr>
        <p:txBody>
          <a:bodyPr wrap="square" lIns="0" tIns="0" rIns="0" bIns="0" rtlCol="0" anchor="ctr"/>
          <a:lstStyle/>
          <a:p>
            <a:pPr indent="0" marL="0">
              <a:buNone/>
            </a:pPr>
            <a:r>
              <a:rPr lang="en-US" sz="1400" b="1" dirty="0">
                <a:solidFill>
                  <a:srgbClr val="1EA0C4"/>
                </a:solidFill>
                <a:latin typeface="Arial" pitchFamily="34" charset="0"/>
                <a:ea typeface="Arial" pitchFamily="34" charset="-122"/>
                <a:cs typeface="Arial" pitchFamily="34" charset="-120"/>
              </a:rPr>
              <a:t>EXPLAIN</a:t>
            </a:r>
            <a:endParaRPr lang="en-US" sz="1400" dirty="0"/>
          </a:p>
        </p:txBody>
      </p:sp>
      <p:sp>
        <p:nvSpPr>
          <p:cNvPr id="15" name="Text 13"/>
          <p:cNvSpPr txBox="1"/>
          <p:nvPr/>
        </p:nvSpPr>
        <p:spPr>
          <a:xfrm>
            <a:off x="8019288" y="2807208"/>
            <a:ext cx="36118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Rank contributing process features using SHAP explainability values with direction</a:t>
            </a:r>
            <a:endParaRPr lang="en-US" sz="1100" dirty="0"/>
          </a:p>
        </p:txBody>
      </p:sp>
      <p:sp>
        <p:nvSpPr>
          <p:cNvPr id="16" name="Shape 14"/>
          <p:cNvSpPr/>
          <p:nvPr/>
        </p:nvSpPr>
        <p:spPr>
          <a:xfrm>
            <a:off x="521208" y="3566160"/>
            <a:ext cx="3611880" cy="457200"/>
          </a:xfrm>
          <a:prstGeom prst="chevron">
            <a:avLst/>
          </a:prstGeom>
          <a:solidFill>
            <a:srgbClr val="5A5D70"/>
          </a:solidFill>
          <a:ln w="12700">
            <a:solidFill>
              <a:srgbClr val="5A5D70"/>
            </a:solidFill>
            <a:prstDash val="solid"/>
          </a:ln>
        </p:spPr>
      </p:sp>
      <p:sp>
        <p:nvSpPr>
          <p:cNvPr id="17" name="Text 15"/>
          <p:cNvSpPr txBox="1"/>
          <p:nvPr/>
        </p:nvSpPr>
        <p:spPr>
          <a:xfrm>
            <a:off x="521208" y="3566160"/>
            <a:ext cx="361188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txBox="1"/>
          <p:nvPr/>
        </p:nvSpPr>
        <p:spPr>
          <a:xfrm>
            <a:off x="521208" y="4133088"/>
            <a:ext cx="3611880" cy="274320"/>
          </a:xfrm>
          <a:prstGeom prst="rect">
            <a:avLst/>
          </a:prstGeom>
          <a:noFill/>
          <a:ln/>
        </p:spPr>
        <p:txBody>
          <a:bodyPr wrap="square" lIns="0" tIns="0" rIns="0" bIns="0" rtlCol="0" anchor="ctr"/>
          <a:lstStyle/>
          <a:p>
            <a:pPr indent="0" marL="0">
              <a:buNone/>
            </a:pPr>
            <a:r>
              <a:rPr lang="en-US" sz="1400" b="1" dirty="0">
                <a:solidFill>
                  <a:srgbClr val="1EA0C4"/>
                </a:solidFill>
                <a:latin typeface="Arial" pitchFamily="34" charset="0"/>
                <a:ea typeface="Arial" pitchFamily="34" charset="-122"/>
                <a:cs typeface="Arial" pitchFamily="34" charset="-120"/>
              </a:rPr>
              <a:t>ACT</a:t>
            </a:r>
            <a:endParaRPr lang="en-US" sz="1400" dirty="0"/>
          </a:p>
        </p:txBody>
      </p:sp>
      <p:sp>
        <p:nvSpPr>
          <p:cNvPr id="19" name="Text 17"/>
          <p:cNvSpPr txBox="1"/>
          <p:nvPr/>
        </p:nvSpPr>
        <p:spPr>
          <a:xfrm>
            <a:off x="521208" y="4407408"/>
            <a:ext cx="36118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Convert ML evidence into engineering recommendations via IBM Bob on watsonx.ai</a:t>
            </a:r>
            <a:endParaRPr lang="en-US" sz="1100" dirty="0"/>
          </a:p>
        </p:txBody>
      </p:sp>
      <p:sp>
        <p:nvSpPr>
          <p:cNvPr id="20" name="Shape 18"/>
          <p:cNvSpPr/>
          <p:nvPr/>
        </p:nvSpPr>
        <p:spPr>
          <a:xfrm>
            <a:off x="4270248" y="3566160"/>
            <a:ext cx="3611880" cy="457200"/>
          </a:xfrm>
          <a:prstGeom prst="chevron">
            <a:avLst/>
          </a:prstGeom>
          <a:solidFill>
            <a:srgbClr val="5A5D70"/>
          </a:solidFill>
          <a:ln w="12700">
            <a:solidFill>
              <a:srgbClr val="5A5D70"/>
            </a:solidFill>
            <a:prstDash val="solid"/>
          </a:ln>
        </p:spPr>
      </p:sp>
      <p:sp>
        <p:nvSpPr>
          <p:cNvPr id="21" name="Text 19"/>
          <p:cNvSpPr txBox="1"/>
          <p:nvPr/>
        </p:nvSpPr>
        <p:spPr>
          <a:xfrm>
            <a:off x="4270248" y="3566160"/>
            <a:ext cx="361188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5</a:t>
            </a:r>
            <a:endParaRPr lang="en-US" sz="1800" dirty="0"/>
          </a:p>
        </p:txBody>
      </p:sp>
      <p:sp>
        <p:nvSpPr>
          <p:cNvPr id="22" name="Text 20"/>
          <p:cNvSpPr txBox="1"/>
          <p:nvPr/>
        </p:nvSpPr>
        <p:spPr>
          <a:xfrm>
            <a:off x="4270248" y="4133088"/>
            <a:ext cx="3611880" cy="274320"/>
          </a:xfrm>
          <a:prstGeom prst="rect">
            <a:avLst/>
          </a:prstGeom>
          <a:noFill/>
          <a:ln/>
        </p:spPr>
        <p:txBody>
          <a:bodyPr wrap="square" lIns="0" tIns="0" rIns="0" bIns="0" rtlCol="0" anchor="ctr"/>
          <a:lstStyle/>
          <a:p>
            <a:pPr indent="0" marL="0">
              <a:buNone/>
            </a:pPr>
            <a:r>
              <a:rPr lang="en-US" sz="1400" b="1" dirty="0">
                <a:solidFill>
                  <a:srgbClr val="1EA0C4"/>
                </a:solidFill>
                <a:latin typeface="Arial" pitchFamily="34" charset="0"/>
                <a:ea typeface="Arial" pitchFamily="34" charset="-122"/>
                <a:cs typeface="Arial" pitchFamily="34" charset="-120"/>
              </a:rPr>
              <a:t>PREVENT</a:t>
            </a:r>
            <a:endParaRPr lang="en-US" sz="1400" dirty="0"/>
          </a:p>
        </p:txBody>
      </p:sp>
      <p:sp>
        <p:nvSpPr>
          <p:cNvPr id="23" name="Text 21"/>
          <p:cNvSpPr txBox="1"/>
          <p:nvPr/>
        </p:nvSpPr>
        <p:spPr>
          <a:xfrm>
            <a:off x="4270248" y="4407408"/>
            <a:ext cx="36118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Pre-screen upcoming batches before manufacturing execution using risk thresholds</a:t>
            </a:r>
            <a:endParaRPr lang="en-US" sz="1100" dirty="0"/>
          </a:p>
        </p:txBody>
      </p:sp>
      <p:sp>
        <p:nvSpPr>
          <p:cNvPr id="24" name="Text 22"/>
          <p:cNvSpPr txBox="1"/>
          <p:nvPr/>
        </p:nvSpPr>
        <p:spPr>
          <a:xfrm>
            <a:off x="521208" y="5349240"/>
            <a:ext cx="5486400" cy="320040"/>
          </a:xfrm>
          <a:prstGeom prst="rect">
            <a:avLst/>
          </a:prstGeom>
          <a:noFill/>
          <a:ln/>
        </p:spPr>
        <p:txBody>
          <a:bodyPr wrap="square" lIns="0" tIns="0" rIns="0" bIns="0" rtlCol="0" anchor="ctr"/>
          <a:lstStyle/>
          <a:p>
            <a:pPr indent="0" marL="0">
              <a:buNone/>
            </a:pPr>
            <a:r>
              <a:rPr lang="en-US" sz="1400" b="1" dirty="0">
                <a:solidFill>
                  <a:srgbClr val="D98CC0"/>
                </a:solidFill>
                <a:latin typeface="Arial" pitchFamily="34" charset="0"/>
                <a:ea typeface="Arial" pitchFamily="34" charset="-122"/>
                <a:cs typeface="Arial" pitchFamily="34" charset="-120"/>
              </a:rPr>
              <a:t>Design Principle: Evidence Accumulation</a:t>
            </a:r>
            <a:endParaRPr lang="en-US" sz="1400" dirty="0"/>
          </a:p>
        </p:txBody>
      </p:sp>
      <p:sp>
        <p:nvSpPr>
          <p:cNvPr id="25" name="Text 23"/>
          <p:cNvSpPr txBox="1"/>
          <p:nvPr/>
        </p:nvSpPr>
        <p:spPr>
          <a:xfrm>
            <a:off x="521208" y="5715000"/>
            <a:ext cx="5486400" cy="822960"/>
          </a:xfrm>
          <a:prstGeom prst="rect">
            <a:avLst/>
          </a:prstGeom>
          <a:noFill/>
          <a:ln/>
        </p:spPr>
        <p:txBody>
          <a:bodyPr wrap="square" lIns="0" tIns="0" rIns="0" bIns="0" rtlCol="0" anchor="ctr"/>
          <a:lstStyle/>
          <a:p>
            <a:pPr algn="l" indent="0" marL="0">
              <a:lnSpc>
                <a:spcPct val="115000"/>
              </a:lnSpc>
              <a:buNone/>
            </a:pPr>
            <a:r>
              <a:rPr lang="en-US" sz="1150" dirty="0">
                <a:solidFill>
                  <a:srgbClr val="D6D7E0"/>
                </a:solidFill>
                <a:latin typeface="Arial" pitchFamily="34" charset="0"/>
                <a:ea typeface="Arial" pitchFamily="34" charset="-122"/>
                <a:cs typeface="Arial" pitchFamily="34" charset="-120"/>
              </a:rPr>
              <a:t>Each phase adds a verifiable layer of evidence. The CNN produces a defect class and confidence. The SECOM classifier adds a risk probability. SHAP surfaces the feature-level drivers. IBM Bob interprets — never invents — from that accumulated evidence stack.</a:t>
            </a:r>
            <a:endParaRPr lang="en-US" sz="1150" dirty="0"/>
          </a:p>
        </p:txBody>
      </p:sp>
      <p:sp>
        <p:nvSpPr>
          <p:cNvPr id="26" name="Text 24"/>
          <p:cNvSpPr txBox="1"/>
          <p:nvPr/>
        </p:nvSpPr>
        <p:spPr>
          <a:xfrm>
            <a:off x="6263640" y="5349240"/>
            <a:ext cx="5394960" cy="320040"/>
          </a:xfrm>
          <a:prstGeom prst="rect">
            <a:avLst/>
          </a:prstGeom>
          <a:noFill/>
          <a:ln/>
        </p:spPr>
        <p:txBody>
          <a:bodyPr wrap="square" lIns="0" tIns="0" rIns="0" bIns="0" rtlCol="0" anchor="ctr"/>
          <a:lstStyle/>
          <a:p>
            <a:pPr indent="0" marL="0">
              <a:buNone/>
            </a:pPr>
            <a:r>
              <a:rPr lang="en-US" sz="1400" b="1" dirty="0">
                <a:solidFill>
                  <a:srgbClr val="D98CC0"/>
                </a:solidFill>
                <a:latin typeface="Arial" pitchFamily="34" charset="0"/>
                <a:ea typeface="Arial" pitchFamily="34" charset="-122"/>
                <a:cs typeface="Arial" pitchFamily="34" charset="-120"/>
              </a:rPr>
              <a:t>Design Principle: Constrained AI</a:t>
            </a:r>
            <a:endParaRPr lang="en-US" sz="1400" dirty="0"/>
          </a:p>
        </p:txBody>
      </p:sp>
      <p:sp>
        <p:nvSpPr>
          <p:cNvPr id="27" name="Text 25"/>
          <p:cNvSpPr txBox="1"/>
          <p:nvPr/>
        </p:nvSpPr>
        <p:spPr>
          <a:xfrm>
            <a:off x="6263640" y="5715000"/>
            <a:ext cx="5394960" cy="822960"/>
          </a:xfrm>
          <a:prstGeom prst="rect">
            <a:avLst/>
          </a:prstGeom>
          <a:noFill/>
          <a:ln/>
        </p:spPr>
        <p:txBody>
          <a:bodyPr wrap="square" lIns="0" tIns="0" rIns="0" bIns="0" rtlCol="0" anchor="ctr"/>
          <a:lstStyle/>
          <a:p>
            <a:pPr algn="l" indent="0" marL="0">
              <a:lnSpc>
                <a:spcPct val="115000"/>
              </a:lnSpc>
              <a:buNone/>
            </a:pPr>
            <a:r>
              <a:rPr lang="en-US" sz="1150" dirty="0">
                <a:solidFill>
                  <a:srgbClr val="D6D7E0"/>
                </a:solidFill>
                <a:latin typeface="Arial" pitchFamily="34" charset="0"/>
                <a:ea typeface="Arial" pitchFamily="34" charset="-122"/>
                <a:cs typeface="Arial" pitchFamily="34" charset="-120"/>
              </a:rPr>
              <a:t>IBM Bob operates under strict prompting rules that prohibit hallucination of sensor meanings, causal claims, or fabricated metrics. The LLM layer is an interpreter of verified numerical outputs, not a replacement for ML inference.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57200"/>
            <a:ext cx="11155680" cy="548640"/>
          </a:xfrm>
          <a:prstGeom prst="rect">
            <a:avLst/>
          </a:prstGeom>
          <a:noFill/>
          <a:ln/>
        </p:spPr>
        <p:txBody>
          <a:bodyPr wrap="square" lIns="0" tIns="0" rIns="0" bIns="0" rtlCol="0" anchor="ctr"/>
          <a:lstStyle/>
          <a:p>
            <a:pPr algn="l" indent="0" marL="0">
              <a:buNone/>
            </a:pPr>
            <a:r>
              <a:rPr lang="en-US" sz="3000" dirty="0">
                <a:solidFill>
                  <a:srgbClr val="F589C9"/>
                </a:solidFill>
                <a:latin typeface="Georgia" pitchFamily="34" charset="0"/>
                <a:ea typeface="Georgia" pitchFamily="34" charset="-122"/>
                <a:cs typeface="Georgia" pitchFamily="34" charset="-120"/>
              </a:rPr>
              <a:t>End-to-End Architecture</a:t>
            </a:r>
            <a:endParaRPr lang="en-US" sz="3000" dirty="0"/>
          </a:p>
        </p:txBody>
      </p:sp>
      <p:sp>
        <p:nvSpPr>
          <p:cNvPr id="3" name="Text 1"/>
          <p:cNvSpPr txBox="1"/>
          <p:nvPr/>
        </p:nvSpPr>
        <p:spPr>
          <a:xfrm>
            <a:off x="521208" y="1097280"/>
            <a:ext cx="11155680" cy="548640"/>
          </a:xfrm>
          <a:prstGeom prst="rect">
            <a:avLst/>
          </a:prstGeom>
          <a:noFill/>
          <a:ln/>
        </p:spPr>
        <p:txBody>
          <a:bodyPr wrap="square" lIns="0" tIns="0" rIns="0" bIns="0" rtlCol="0" anchor="ctr"/>
          <a:lstStyle/>
          <a:p>
            <a:pPr algn="l" indent="0" marL="0">
              <a:lnSpc>
                <a:spcPct val="115000"/>
              </a:lnSpc>
              <a:buNone/>
            </a:pPr>
            <a:r>
              <a:rPr lang="en-US" sz="1300" dirty="0">
                <a:solidFill>
                  <a:srgbClr val="D6D7E0"/>
                </a:solidFill>
                <a:latin typeface="Arial" pitchFamily="34" charset="0"/>
                <a:ea typeface="Arial" pitchFamily="34" charset="-122"/>
                <a:cs typeface="Arial" pitchFamily="34" charset="-120"/>
              </a:rPr>
              <a:t>The S1 Analyzer is composed of four integrated layers — from raw data ingestion through ML inference, explainability, AI intelligence, and persistent storage — all orchestrated via a FastAPI REST backend.</a:t>
            </a:r>
            <a:endParaRPr lang="en-US" sz="1300" dirty="0"/>
          </a:p>
        </p:txBody>
      </p:sp>
      <p:sp>
        <p:nvSpPr>
          <p:cNvPr id="4" name="Shape 2"/>
          <p:cNvSpPr/>
          <p:nvPr/>
        </p:nvSpPr>
        <p:spPr>
          <a:xfrm>
            <a:off x="521208" y="1874520"/>
            <a:ext cx="5120640" cy="4434840"/>
          </a:xfrm>
          <a:prstGeom prst="rect">
            <a:avLst/>
          </a:prstGeom>
          <a:solidFill>
            <a:srgbClr val="003466"/>
          </a:solidFill>
          <a:ln w="12700">
            <a:solidFill>
              <a:srgbClr val="003466"/>
            </a:solidFill>
            <a:prstDash val="solid"/>
          </a:ln>
        </p:spPr>
      </p:sp>
      <p:sp>
        <p:nvSpPr>
          <p:cNvPr id="5" name="Text 3"/>
          <p:cNvSpPr txBox="1"/>
          <p:nvPr/>
        </p:nvSpPr>
        <p:spPr>
          <a:xfrm>
            <a:off x="749808" y="2057400"/>
            <a:ext cx="4663440" cy="292608"/>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Input Layer</a:t>
            </a:r>
            <a:endParaRPr lang="en-US" sz="1500" dirty="0"/>
          </a:p>
        </p:txBody>
      </p:sp>
      <p:sp>
        <p:nvSpPr>
          <p:cNvPr id="6" name="Text 4"/>
          <p:cNvSpPr txBox="1"/>
          <p:nvPr/>
        </p:nvSpPr>
        <p:spPr>
          <a:xfrm>
            <a:off x="749808" y="2423160"/>
            <a:ext cx="4663440" cy="10058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Wafer defect images (grayscale, 64×64 pixels)</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Process parameters (24-feature SECOM vectors)</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Historical lot records and upcoming batch data</a:t>
            </a:r>
            <a:endParaRPr lang="en-US" sz="1250" dirty="0"/>
          </a:p>
        </p:txBody>
      </p:sp>
      <p:sp>
        <p:nvSpPr>
          <p:cNvPr id="7" name="Text 5"/>
          <p:cNvSpPr txBox="1"/>
          <p:nvPr/>
        </p:nvSpPr>
        <p:spPr>
          <a:xfrm>
            <a:off x="749808" y="3566160"/>
            <a:ext cx="4663440" cy="292608"/>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Backend &amp; Storage</a:t>
            </a:r>
            <a:endParaRPr lang="en-US" sz="1500" dirty="0"/>
          </a:p>
        </p:txBody>
      </p:sp>
      <p:sp>
        <p:nvSpPr>
          <p:cNvPr id="8" name="Text 6"/>
          <p:cNvSpPr txBox="1"/>
          <p:nvPr/>
        </p:nvSpPr>
        <p:spPr>
          <a:xfrm>
            <a:off x="749808" y="3931920"/>
            <a:ext cx="4663440" cy="11887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FastAPI REST API for end-to-end orchestration</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PostgreSQL: lot records, analysis runs, batch monitoring state</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React front-end for engineer-facing interface</a:t>
            </a:r>
            <a:endParaRPr lang="en-US" sz="1250" dirty="0"/>
          </a:p>
        </p:txBody>
      </p:sp>
      <p:sp>
        <p:nvSpPr>
          <p:cNvPr id="9" name="Text 7"/>
          <p:cNvSpPr txBox="1"/>
          <p:nvPr/>
        </p:nvSpPr>
        <p:spPr>
          <a:xfrm>
            <a:off x="5943600" y="1874520"/>
            <a:ext cx="571500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ML Inference Layer</a:t>
            </a:r>
            <a:endParaRPr lang="en-US" sz="1500" dirty="0"/>
          </a:p>
        </p:txBody>
      </p:sp>
      <p:sp>
        <p:nvSpPr>
          <p:cNvPr id="10" name="Shape 8"/>
          <p:cNvSpPr/>
          <p:nvPr/>
        </p:nvSpPr>
        <p:spPr>
          <a:xfrm>
            <a:off x="5943600" y="2240280"/>
            <a:ext cx="2788920" cy="1234440"/>
          </a:xfrm>
          <a:prstGeom prst="roundRect">
            <a:avLst>
              <a:gd name="adj" fmla="val 4444"/>
            </a:avLst>
          </a:prstGeom>
          <a:solidFill>
            <a:srgbClr val="444652"/>
          </a:solidFill>
          <a:ln w="12700">
            <a:solidFill>
              <a:srgbClr val="444652"/>
            </a:solidFill>
            <a:prstDash val="solid"/>
          </a:ln>
        </p:spPr>
      </p:sp>
      <p:sp>
        <p:nvSpPr>
          <p:cNvPr id="11" name="Text 9"/>
          <p:cNvSpPr txBox="1"/>
          <p:nvPr/>
        </p:nvSpPr>
        <p:spPr>
          <a:xfrm>
            <a:off x="6144768" y="2368296"/>
            <a:ext cx="2386584" cy="3200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Wafer Map CNN</a:t>
            </a:r>
            <a:endParaRPr lang="en-US" sz="1500" dirty="0"/>
          </a:p>
        </p:txBody>
      </p:sp>
      <p:sp>
        <p:nvSpPr>
          <p:cNvPr id="12" name="Text 10"/>
          <p:cNvSpPr txBox="1"/>
          <p:nvPr/>
        </p:nvSpPr>
        <p:spPr>
          <a:xfrm>
            <a:off x="6144768" y="2734056"/>
            <a:ext cx="2386584" cy="685800"/>
          </a:xfrm>
          <a:prstGeom prst="rect">
            <a:avLst/>
          </a:prstGeom>
          <a:noFill/>
          <a:ln/>
        </p:spPr>
        <p:txBody>
          <a:bodyPr wrap="square" lIns="0" tIns="0" rIns="0" bIns="0" rtlCol="0" anchor="ctr"/>
          <a:lstStyle/>
          <a:p>
            <a:pPr indent="0" marL="0">
              <a:lnSpc>
                <a:spcPct val="110000"/>
              </a:lnSpc>
              <a:buNone/>
            </a:pPr>
            <a:r>
              <a:rPr lang="en-US" sz="1150" dirty="0">
                <a:solidFill>
                  <a:srgbClr val="D6D7E0"/>
                </a:solidFill>
                <a:latin typeface="Arial" pitchFamily="34" charset="0"/>
                <a:ea typeface="Arial" pitchFamily="34" charset="-122"/>
                <a:cs typeface="Arial" pitchFamily="34" charset="-120"/>
              </a:rPr>
              <a:t>PyTorch · 3-layer conv (16→32→64 filters) · 2-layer classifier · 9-class output</a:t>
            </a:r>
            <a:endParaRPr lang="en-US" sz="1150" dirty="0"/>
          </a:p>
        </p:txBody>
      </p:sp>
      <p:sp>
        <p:nvSpPr>
          <p:cNvPr id="13" name="Shape 11"/>
          <p:cNvSpPr/>
          <p:nvPr/>
        </p:nvSpPr>
        <p:spPr>
          <a:xfrm>
            <a:off x="8869680" y="2240280"/>
            <a:ext cx="2788920" cy="1234440"/>
          </a:xfrm>
          <a:prstGeom prst="roundRect">
            <a:avLst>
              <a:gd name="adj" fmla="val 4444"/>
            </a:avLst>
          </a:prstGeom>
          <a:solidFill>
            <a:srgbClr val="444652"/>
          </a:solidFill>
          <a:ln w="12700">
            <a:solidFill>
              <a:srgbClr val="444652"/>
            </a:solidFill>
            <a:prstDash val="solid"/>
          </a:ln>
        </p:spPr>
      </p:sp>
      <p:sp>
        <p:nvSpPr>
          <p:cNvPr id="14" name="Text 12"/>
          <p:cNvSpPr txBox="1"/>
          <p:nvPr/>
        </p:nvSpPr>
        <p:spPr>
          <a:xfrm>
            <a:off x="9070848" y="2368296"/>
            <a:ext cx="2386584" cy="3200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SECOM Classifier</a:t>
            </a:r>
            <a:endParaRPr lang="en-US" sz="1500" dirty="0"/>
          </a:p>
        </p:txBody>
      </p:sp>
      <p:sp>
        <p:nvSpPr>
          <p:cNvPr id="15" name="Text 13"/>
          <p:cNvSpPr txBox="1"/>
          <p:nvPr/>
        </p:nvSpPr>
        <p:spPr>
          <a:xfrm>
            <a:off x="9070848" y="2734056"/>
            <a:ext cx="2386584" cy="685800"/>
          </a:xfrm>
          <a:prstGeom prst="rect">
            <a:avLst/>
          </a:prstGeom>
          <a:noFill/>
          <a:ln/>
        </p:spPr>
        <p:txBody>
          <a:bodyPr wrap="square" lIns="0" tIns="0" rIns="0" bIns="0" rtlCol="0" anchor="ctr"/>
          <a:lstStyle/>
          <a:p>
            <a:pPr indent="0" marL="0">
              <a:lnSpc>
                <a:spcPct val="110000"/>
              </a:lnSpc>
              <a:buNone/>
            </a:pPr>
            <a:r>
              <a:rPr lang="en-US" sz="1150" dirty="0">
                <a:solidFill>
                  <a:srgbClr val="D6D7E0"/>
                </a:solidFill>
                <a:latin typeface="Arial" pitchFamily="34" charset="0"/>
                <a:ea typeface="Arial" pitchFamily="34" charset="-122"/>
                <a:cs typeface="Arial" pitchFamily="34" charset="-120"/>
              </a:rPr>
              <a:t>XGBoost VotingClassifier · scikit-learn ensemble · 24 features · PASS/FAIL + probability</a:t>
            </a:r>
            <a:endParaRPr lang="en-US" sz="1150" dirty="0"/>
          </a:p>
        </p:txBody>
      </p:sp>
      <p:sp>
        <p:nvSpPr>
          <p:cNvPr id="16" name="Text 14"/>
          <p:cNvSpPr txBox="1"/>
          <p:nvPr/>
        </p:nvSpPr>
        <p:spPr>
          <a:xfrm>
            <a:off x="5943600" y="3657600"/>
            <a:ext cx="571500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Explainability &amp; Intelligence Layer</a:t>
            </a:r>
            <a:endParaRPr lang="en-US" sz="1500" dirty="0"/>
          </a:p>
        </p:txBody>
      </p:sp>
      <p:sp>
        <p:nvSpPr>
          <p:cNvPr id="17" name="Shape 15"/>
          <p:cNvSpPr/>
          <p:nvPr/>
        </p:nvSpPr>
        <p:spPr>
          <a:xfrm>
            <a:off x="5943600" y="4023360"/>
            <a:ext cx="2788920" cy="1371600"/>
          </a:xfrm>
          <a:prstGeom prst="roundRect">
            <a:avLst>
              <a:gd name="adj" fmla="val 4000"/>
            </a:avLst>
          </a:prstGeom>
          <a:solidFill>
            <a:srgbClr val="444652"/>
          </a:solidFill>
          <a:ln w="12700">
            <a:solidFill>
              <a:srgbClr val="444652"/>
            </a:solidFill>
            <a:prstDash val="solid"/>
          </a:ln>
        </p:spPr>
      </p:sp>
      <p:sp>
        <p:nvSpPr>
          <p:cNvPr id="18" name="Text 16"/>
          <p:cNvSpPr txBox="1"/>
          <p:nvPr/>
        </p:nvSpPr>
        <p:spPr>
          <a:xfrm>
            <a:off x="6144768" y="4151376"/>
            <a:ext cx="2386584" cy="3200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SHAP</a:t>
            </a:r>
            <a:endParaRPr lang="en-US" sz="1500" dirty="0"/>
          </a:p>
        </p:txBody>
      </p:sp>
      <p:sp>
        <p:nvSpPr>
          <p:cNvPr id="19" name="Text 17"/>
          <p:cNvSpPr txBox="1"/>
          <p:nvPr/>
        </p:nvSpPr>
        <p:spPr>
          <a:xfrm>
            <a:off x="6144768" y="4517136"/>
            <a:ext cx="2386584" cy="822960"/>
          </a:xfrm>
          <a:prstGeom prst="rect">
            <a:avLst/>
          </a:prstGeom>
          <a:noFill/>
          <a:ln/>
        </p:spPr>
        <p:txBody>
          <a:bodyPr wrap="square" lIns="0" tIns="0" rIns="0" bIns="0" rtlCol="0" anchor="ctr"/>
          <a:lstStyle/>
          <a:p>
            <a:pPr indent="0" marL="0">
              <a:lnSpc>
                <a:spcPct val="110000"/>
              </a:lnSpc>
              <a:buNone/>
            </a:pPr>
            <a:r>
              <a:rPr lang="en-US" sz="1150" dirty="0">
                <a:solidFill>
                  <a:srgbClr val="D6D7E0"/>
                </a:solidFill>
                <a:latin typeface="Arial" pitchFamily="34" charset="0"/>
                <a:ea typeface="Arial" pitchFamily="34" charset="-122"/>
                <a:cs typeface="Arial" pitchFamily="34" charset="-120"/>
              </a:rPr>
              <a:t>TreeExplainer (primary) or KernelExplainer (fallback) · feature contribution ranking · directional risk signals</a:t>
            </a:r>
            <a:endParaRPr lang="en-US" sz="1150" dirty="0"/>
          </a:p>
        </p:txBody>
      </p:sp>
      <p:sp>
        <p:nvSpPr>
          <p:cNvPr id="20" name="Shape 18"/>
          <p:cNvSpPr/>
          <p:nvPr/>
        </p:nvSpPr>
        <p:spPr>
          <a:xfrm>
            <a:off x="8869680" y="4023360"/>
            <a:ext cx="2788920" cy="1371600"/>
          </a:xfrm>
          <a:prstGeom prst="roundRect">
            <a:avLst>
              <a:gd name="adj" fmla="val 4000"/>
            </a:avLst>
          </a:prstGeom>
          <a:solidFill>
            <a:srgbClr val="444652"/>
          </a:solidFill>
          <a:ln w="12700">
            <a:solidFill>
              <a:srgbClr val="444652"/>
            </a:solidFill>
            <a:prstDash val="solid"/>
          </a:ln>
        </p:spPr>
      </p:sp>
      <p:sp>
        <p:nvSpPr>
          <p:cNvPr id="21" name="Text 19"/>
          <p:cNvSpPr txBox="1"/>
          <p:nvPr/>
        </p:nvSpPr>
        <p:spPr>
          <a:xfrm>
            <a:off x="9070848" y="4151376"/>
            <a:ext cx="2386584" cy="3200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IBM Bob (watsonx.ai)</a:t>
            </a:r>
            <a:endParaRPr lang="en-US" sz="1500" dirty="0"/>
          </a:p>
        </p:txBody>
      </p:sp>
      <p:sp>
        <p:nvSpPr>
          <p:cNvPr id="22" name="Text 20"/>
          <p:cNvSpPr txBox="1"/>
          <p:nvPr/>
        </p:nvSpPr>
        <p:spPr>
          <a:xfrm>
            <a:off x="9070848" y="4517136"/>
            <a:ext cx="2386584" cy="822960"/>
          </a:xfrm>
          <a:prstGeom prst="rect">
            <a:avLst/>
          </a:prstGeom>
          <a:noFill/>
          <a:ln/>
        </p:spPr>
        <p:txBody>
          <a:bodyPr wrap="square" lIns="0" tIns="0" rIns="0" bIns="0" rtlCol="0" anchor="ctr"/>
          <a:lstStyle/>
          <a:p>
            <a:pPr indent="0" marL="0">
              <a:lnSpc>
                <a:spcPct val="110000"/>
              </a:lnSpc>
              <a:buNone/>
            </a:pPr>
            <a:r>
              <a:rPr lang="en-US" sz="1150" dirty="0">
                <a:solidFill>
                  <a:srgbClr val="D6D7E0"/>
                </a:solidFill>
                <a:latin typeface="Arial" pitchFamily="34" charset="0"/>
                <a:ea typeface="Arial" pitchFamily="34" charset="-122"/>
                <a:cs typeface="Arial" pitchFamily="34" charset="-120"/>
              </a:rPr>
              <a:t>Llama 3 70B Instruct · constrained prompting · structured JSON response · evidence-grounded only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57200"/>
            <a:ext cx="11155680" cy="548640"/>
          </a:xfrm>
          <a:prstGeom prst="rect">
            <a:avLst/>
          </a:prstGeom>
          <a:noFill/>
          <a:ln/>
        </p:spPr>
        <p:txBody>
          <a:bodyPr wrap="square" lIns="0" tIns="0" rIns="0" bIns="0" rtlCol="0" anchor="ctr"/>
          <a:lstStyle/>
          <a:p>
            <a:pPr algn="l" indent="0" marL="0">
              <a:buNone/>
            </a:pPr>
            <a:r>
              <a:rPr lang="en-US" sz="3000" dirty="0">
                <a:solidFill>
                  <a:srgbClr val="F589C9"/>
                </a:solidFill>
                <a:latin typeface="Georgia" pitchFamily="34" charset="0"/>
                <a:ea typeface="Georgia" pitchFamily="34" charset="-122"/>
                <a:cs typeface="Georgia" pitchFamily="34" charset="-120"/>
              </a:rPr>
              <a:t>ML Models &amp; Inference</a:t>
            </a:r>
            <a:endParaRPr lang="en-US" sz="3000" dirty="0"/>
          </a:p>
        </p:txBody>
      </p:sp>
      <p:sp>
        <p:nvSpPr>
          <p:cNvPr id="3" name="Text 1"/>
          <p:cNvSpPr txBox="1"/>
          <p:nvPr/>
        </p:nvSpPr>
        <p:spPr>
          <a:xfrm>
            <a:off x="521208" y="1097280"/>
            <a:ext cx="11155680" cy="548640"/>
          </a:xfrm>
          <a:prstGeom prst="rect">
            <a:avLst/>
          </a:prstGeom>
          <a:noFill/>
          <a:ln/>
        </p:spPr>
        <p:txBody>
          <a:bodyPr wrap="square" lIns="0" tIns="0" rIns="0" bIns="0" rtlCol="0" anchor="ctr"/>
          <a:lstStyle/>
          <a:p>
            <a:pPr algn="l" indent="0" marL="0">
              <a:lnSpc>
                <a:spcPct val="115000"/>
              </a:lnSpc>
              <a:buNone/>
            </a:pPr>
            <a:r>
              <a:rPr lang="en-US" sz="1300" dirty="0">
                <a:solidFill>
                  <a:srgbClr val="D6D7E0"/>
                </a:solidFill>
                <a:latin typeface="Arial" pitchFamily="34" charset="0"/>
                <a:ea typeface="Arial" pitchFamily="34" charset="-122"/>
                <a:cs typeface="Arial" pitchFamily="34" charset="-120"/>
              </a:rPr>
              <a:t>Two independent ML models form the analytical core of the S1 Analyzer. Each is purpose-built for its domain and produces numerically grounded outputs that feed the downstream explainability and AI interpretation layers.</a:t>
            </a:r>
            <a:endParaRPr lang="en-US" sz="1300" dirty="0"/>
          </a:p>
        </p:txBody>
      </p:sp>
      <p:sp>
        <p:nvSpPr>
          <p:cNvPr id="4" name="Shape 2"/>
          <p:cNvSpPr/>
          <p:nvPr/>
        </p:nvSpPr>
        <p:spPr>
          <a:xfrm>
            <a:off x="521208" y="1874520"/>
            <a:ext cx="960120" cy="292608"/>
          </a:xfrm>
          <a:prstGeom prst="roundRect">
            <a:avLst>
              <a:gd name="adj" fmla="val 12500"/>
            </a:avLst>
          </a:prstGeom>
          <a:solidFill>
            <a:srgbClr val="741847"/>
          </a:solidFill>
          <a:ln w="12700">
            <a:solidFill>
              <a:srgbClr val="741847"/>
            </a:solidFill>
            <a:prstDash val="solid"/>
          </a:ln>
        </p:spPr>
      </p:sp>
      <p:sp>
        <p:nvSpPr>
          <p:cNvPr id="5" name="Text 3"/>
          <p:cNvSpPr txBox="1"/>
          <p:nvPr/>
        </p:nvSpPr>
        <p:spPr>
          <a:xfrm>
            <a:off x="521208" y="1874520"/>
            <a:ext cx="9601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MODEL 1</a:t>
            </a:r>
            <a:endParaRPr lang="en-US" sz="900" dirty="0"/>
          </a:p>
        </p:txBody>
      </p:sp>
      <p:sp>
        <p:nvSpPr>
          <p:cNvPr id="6" name="Text 4"/>
          <p:cNvSpPr txBox="1"/>
          <p:nvPr/>
        </p:nvSpPr>
        <p:spPr>
          <a:xfrm>
            <a:off x="521208" y="2240280"/>
            <a:ext cx="5394960" cy="365760"/>
          </a:xfrm>
          <a:prstGeom prst="rect">
            <a:avLst/>
          </a:prstGeom>
          <a:noFill/>
          <a:ln/>
        </p:spPr>
        <p:txBody>
          <a:bodyPr wrap="square" lIns="0" tIns="0" rIns="0" bIns="0" rtlCol="0" anchor="ctr"/>
          <a:lstStyle/>
          <a:p>
            <a:pPr indent="0" marL="0">
              <a:buNone/>
            </a:pPr>
            <a:r>
              <a:rPr lang="en-US" sz="1800" dirty="0">
                <a:solidFill>
                  <a:srgbClr val="D98CC0"/>
                </a:solidFill>
                <a:latin typeface="Georgia" pitchFamily="34" charset="0"/>
                <a:ea typeface="Georgia" pitchFamily="34" charset="-122"/>
                <a:cs typeface="Georgia" pitchFamily="34" charset="-120"/>
              </a:rPr>
              <a:t>Wafer Map CNN — PyTorch</a:t>
            </a:r>
            <a:endParaRPr lang="en-US" sz="1800" dirty="0"/>
          </a:p>
        </p:txBody>
      </p:sp>
      <p:sp>
        <p:nvSpPr>
          <p:cNvPr id="7" name="Shape 5"/>
          <p:cNvSpPr/>
          <p:nvPr/>
        </p:nvSpPr>
        <p:spPr>
          <a:xfrm>
            <a:off x="521208" y="2697480"/>
            <a:ext cx="5394960" cy="0"/>
          </a:xfrm>
          <a:prstGeom prst="line">
            <a:avLst/>
          </a:prstGeom>
          <a:noFill/>
          <a:ln w="12700">
            <a:solidFill>
              <a:srgbClr val="5C5E70"/>
            </a:solidFill>
            <a:prstDash val="solid"/>
          </a:ln>
        </p:spPr>
      </p:sp>
      <p:sp>
        <p:nvSpPr>
          <p:cNvPr id="8" name="Shape 6"/>
          <p:cNvSpPr/>
          <p:nvPr/>
        </p:nvSpPr>
        <p:spPr>
          <a:xfrm>
            <a:off x="521208" y="2907792"/>
            <a:ext cx="45720" cy="777240"/>
          </a:xfrm>
          <a:prstGeom prst="rect">
            <a:avLst/>
          </a:prstGeom>
          <a:solidFill>
            <a:srgbClr val="7EB3FF"/>
          </a:solidFill>
          <a:ln w="12700">
            <a:solidFill>
              <a:srgbClr val="7EB3FF"/>
            </a:solidFill>
            <a:prstDash val="solid"/>
          </a:ln>
        </p:spPr>
      </p:sp>
      <p:sp>
        <p:nvSpPr>
          <p:cNvPr id="9" name="Text 7"/>
          <p:cNvSpPr txBox="1"/>
          <p:nvPr/>
        </p:nvSpPr>
        <p:spPr>
          <a:xfrm>
            <a:off x="704088" y="2880360"/>
            <a:ext cx="521208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Architecture</a:t>
            </a:r>
            <a:endParaRPr lang="en-US" sz="1350" dirty="0"/>
          </a:p>
        </p:txBody>
      </p:sp>
      <p:sp>
        <p:nvSpPr>
          <p:cNvPr id="10" name="Text 8"/>
          <p:cNvSpPr txBox="1"/>
          <p:nvPr/>
        </p:nvSpPr>
        <p:spPr>
          <a:xfrm>
            <a:off x="704088" y="3154680"/>
            <a:ext cx="5212080" cy="54864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3-layer convolutional network with filter progression 16 → 32 → 64, followed by a 2-layer fully connected classifier head</a:t>
            </a:r>
            <a:endParaRPr lang="en-US" sz="1100" dirty="0"/>
          </a:p>
        </p:txBody>
      </p:sp>
      <p:sp>
        <p:nvSpPr>
          <p:cNvPr id="11" name="Shape 9"/>
          <p:cNvSpPr/>
          <p:nvPr/>
        </p:nvSpPr>
        <p:spPr>
          <a:xfrm>
            <a:off x="521208" y="3840480"/>
            <a:ext cx="45720" cy="777240"/>
          </a:xfrm>
          <a:prstGeom prst="rect">
            <a:avLst/>
          </a:prstGeom>
          <a:solidFill>
            <a:srgbClr val="7EB3FF"/>
          </a:solidFill>
          <a:ln w="12700">
            <a:solidFill>
              <a:srgbClr val="7EB3FF"/>
            </a:solidFill>
            <a:prstDash val="solid"/>
          </a:ln>
        </p:spPr>
      </p:sp>
      <p:sp>
        <p:nvSpPr>
          <p:cNvPr id="12" name="Text 10"/>
          <p:cNvSpPr txBox="1"/>
          <p:nvPr/>
        </p:nvSpPr>
        <p:spPr>
          <a:xfrm>
            <a:off x="704088" y="3813048"/>
            <a:ext cx="521208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Input</a:t>
            </a:r>
            <a:endParaRPr lang="en-US" sz="1350" dirty="0"/>
          </a:p>
        </p:txBody>
      </p:sp>
      <p:sp>
        <p:nvSpPr>
          <p:cNvPr id="13" name="Text 11"/>
          <p:cNvSpPr txBox="1"/>
          <p:nvPr/>
        </p:nvSpPr>
        <p:spPr>
          <a:xfrm>
            <a:off x="704088" y="4087368"/>
            <a:ext cx="5212080" cy="54864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Grayscale wafer map image resized to 64×64 pixels, normalized prior to forward pass</a:t>
            </a:r>
            <a:endParaRPr lang="en-US" sz="1100" dirty="0"/>
          </a:p>
        </p:txBody>
      </p:sp>
      <p:sp>
        <p:nvSpPr>
          <p:cNvPr id="14" name="Shape 12"/>
          <p:cNvSpPr/>
          <p:nvPr/>
        </p:nvSpPr>
        <p:spPr>
          <a:xfrm>
            <a:off x="521208" y="4773168"/>
            <a:ext cx="45720" cy="777240"/>
          </a:xfrm>
          <a:prstGeom prst="rect">
            <a:avLst/>
          </a:prstGeom>
          <a:solidFill>
            <a:srgbClr val="7EB3FF"/>
          </a:solidFill>
          <a:ln w="12700">
            <a:solidFill>
              <a:srgbClr val="7EB3FF"/>
            </a:solidFill>
            <a:prstDash val="solid"/>
          </a:ln>
        </p:spPr>
      </p:sp>
      <p:sp>
        <p:nvSpPr>
          <p:cNvPr id="15" name="Text 13"/>
          <p:cNvSpPr txBox="1"/>
          <p:nvPr/>
        </p:nvSpPr>
        <p:spPr>
          <a:xfrm>
            <a:off x="704088" y="4745736"/>
            <a:ext cx="521208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Output — 9 Defect Classes</a:t>
            </a:r>
            <a:endParaRPr lang="en-US" sz="1350" dirty="0"/>
          </a:p>
        </p:txBody>
      </p:sp>
      <p:sp>
        <p:nvSpPr>
          <p:cNvPr id="16" name="Text 14"/>
          <p:cNvSpPr txBox="1"/>
          <p:nvPr/>
        </p:nvSpPr>
        <p:spPr>
          <a:xfrm>
            <a:off x="704088" y="5020056"/>
            <a:ext cx="5212080" cy="54864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Center · Donut · Edge-Loc · Edge-Ring · Loc · Random · Scratch · Near-full · None</a:t>
            </a:r>
            <a:endParaRPr lang="en-US" sz="1100" dirty="0"/>
          </a:p>
        </p:txBody>
      </p:sp>
      <p:sp>
        <p:nvSpPr>
          <p:cNvPr id="17" name="Shape 15"/>
          <p:cNvSpPr/>
          <p:nvPr/>
        </p:nvSpPr>
        <p:spPr>
          <a:xfrm>
            <a:off x="521208" y="5705856"/>
            <a:ext cx="45720" cy="777240"/>
          </a:xfrm>
          <a:prstGeom prst="rect">
            <a:avLst/>
          </a:prstGeom>
          <a:solidFill>
            <a:srgbClr val="7EB3FF"/>
          </a:solidFill>
          <a:ln w="12700">
            <a:solidFill>
              <a:srgbClr val="7EB3FF"/>
            </a:solidFill>
            <a:prstDash val="solid"/>
          </a:ln>
        </p:spPr>
      </p:sp>
      <p:sp>
        <p:nvSpPr>
          <p:cNvPr id="18" name="Text 16"/>
          <p:cNvSpPr txBox="1"/>
          <p:nvPr/>
        </p:nvSpPr>
        <p:spPr>
          <a:xfrm>
            <a:off x="704088" y="5678424"/>
            <a:ext cx="521208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Inference Mode</a:t>
            </a:r>
            <a:endParaRPr lang="en-US" sz="1350" dirty="0"/>
          </a:p>
        </p:txBody>
      </p:sp>
      <p:sp>
        <p:nvSpPr>
          <p:cNvPr id="19" name="Text 17"/>
          <p:cNvSpPr txBox="1"/>
          <p:nvPr/>
        </p:nvSpPr>
        <p:spPr>
          <a:xfrm>
            <a:off x="704088" y="5952744"/>
            <a:ext cx="5212080" cy="54864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Real-time classification with per-class softmax probability scores — highest probability determines predicted defect type</a:t>
            </a:r>
            <a:endParaRPr lang="en-US" sz="1100" dirty="0"/>
          </a:p>
        </p:txBody>
      </p:sp>
      <p:sp>
        <p:nvSpPr>
          <p:cNvPr id="20" name="Shape 18"/>
          <p:cNvSpPr/>
          <p:nvPr/>
        </p:nvSpPr>
        <p:spPr>
          <a:xfrm>
            <a:off x="6263640" y="1874520"/>
            <a:ext cx="960120" cy="292608"/>
          </a:xfrm>
          <a:prstGeom prst="roundRect">
            <a:avLst>
              <a:gd name="adj" fmla="val 12500"/>
            </a:avLst>
          </a:prstGeom>
          <a:solidFill>
            <a:srgbClr val="741847"/>
          </a:solidFill>
          <a:ln w="12700">
            <a:solidFill>
              <a:srgbClr val="741847"/>
            </a:solidFill>
            <a:prstDash val="solid"/>
          </a:ln>
        </p:spPr>
      </p:sp>
      <p:sp>
        <p:nvSpPr>
          <p:cNvPr id="21" name="Text 19"/>
          <p:cNvSpPr txBox="1"/>
          <p:nvPr/>
        </p:nvSpPr>
        <p:spPr>
          <a:xfrm>
            <a:off x="6263640" y="1874520"/>
            <a:ext cx="9601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MODEL 2</a:t>
            </a:r>
            <a:endParaRPr lang="en-US" sz="900" dirty="0"/>
          </a:p>
        </p:txBody>
      </p:sp>
      <p:sp>
        <p:nvSpPr>
          <p:cNvPr id="22" name="Text 20"/>
          <p:cNvSpPr txBox="1"/>
          <p:nvPr/>
        </p:nvSpPr>
        <p:spPr>
          <a:xfrm>
            <a:off x="6263640" y="2240280"/>
            <a:ext cx="5394960" cy="365760"/>
          </a:xfrm>
          <a:prstGeom prst="rect">
            <a:avLst/>
          </a:prstGeom>
          <a:noFill/>
          <a:ln/>
        </p:spPr>
        <p:txBody>
          <a:bodyPr wrap="square" lIns="0" tIns="0" rIns="0" bIns="0" rtlCol="0" anchor="ctr"/>
          <a:lstStyle/>
          <a:p>
            <a:pPr indent="0" marL="0">
              <a:buNone/>
            </a:pPr>
            <a:r>
              <a:rPr lang="en-US" sz="1800" dirty="0">
                <a:solidFill>
                  <a:srgbClr val="D98CC0"/>
                </a:solidFill>
                <a:latin typeface="Georgia" pitchFamily="34" charset="0"/>
                <a:ea typeface="Georgia" pitchFamily="34" charset="-122"/>
                <a:cs typeface="Georgia" pitchFamily="34" charset="-120"/>
              </a:rPr>
              <a:t>SECOM Classifier — XGBoost VotingClassifier</a:t>
            </a:r>
            <a:endParaRPr lang="en-US" sz="1800" dirty="0"/>
          </a:p>
        </p:txBody>
      </p:sp>
      <p:sp>
        <p:nvSpPr>
          <p:cNvPr id="23" name="Shape 21"/>
          <p:cNvSpPr/>
          <p:nvPr/>
        </p:nvSpPr>
        <p:spPr>
          <a:xfrm>
            <a:off x="6263640" y="2697480"/>
            <a:ext cx="5394960" cy="0"/>
          </a:xfrm>
          <a:prstGeom prst="line">
            <a:avLst/>
          </a:prstGeom>
          <a:noFill/>
          <a:ln w="12700">
            <a:solidFill>
              <a:srgbClr val="5C5E70"/>
            </a:solidFill>
            <a:prstDash val="solid"/>
          </a:ln>
        </p:spPr>
      </p:sp>
      <p:sp>
        <p:nvSpPr>
          <p:cNvPr id="24" name="Shape 22"/>
          <p:cNvSpPr/>
          <p:nvPr/>
        </p:nvSpPr>
        <p:spPr>
          <a:xfrm>
            <a:off x="6263640" y="2907792"/>
            <a:ext cx="45720" cy="777240"/>
          </a:xfrm>
          <a:prstGeom prst="rect">
            <a:avLst/>
          </a:prstGeom>
          <a:solidFill>
            <a:srgbClr val="7EB3FF"/>
          </a:solidFill>
          <a:ln w="12700">
            <a:solidFill>
              <a:srgbClr val="7EB3FF"/>
            </a:solidFill>
            <a:prstDash val="solid"/>
          </a:ln>
        </p:spPr>
      </p:sp>
      <p:sp>
        <p:nvSpPr>
          <p:cNvPr id="25" name="Text 23"/>
          <p:cNvSpPr txBox="1"/>
          <p:nvPr/>
        </p:nvSpPr>
        <p:spPr>
          <a:xfrm>
            <a:off x="6446520" y="2880360"/>
            <a:ext cx="521208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Architecture</a:t>
            </a:r>
            <a:endParaRPr lang="en-US" sz="1350" dirty="0"/>
          </a:p>
        </p:txBody>
      </p:sp>
      <p:sp>
        <p:nvSpPr>
          <p:cNvPr id="26" name="Text 24"/>
          <p:cNvSpPr txBox="1"/>
          <p:nvPr/>
        </p:nvSpPr>
        <p:spPr>
          <a:xfrm>
            <a:off x="6446520" y="3154680"/>
            <a:ext cx="5212080" cy="54864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Ensemble of tree-based estimators combining scikit-learn and XGBoost via soft-voting for improved stability</a:t>
            </a:r>
            <a:endParaRPr lang="en-US" sz="1100" dirty="0"/>
          </a:p>
        </p:txBody>
      </p:sp>
      <p:sp>
        <p:nvSpPr>
          <p:cNvPr id="27" name="Shape 25"/>
          <p:cNvSpPr/>
          <p:nvPr/>
        </p:nvSpPr>
        <p:spPr>
          <a:xfrm>
            <a:off x="6263640" y="3840480"/>
            <a:ext cx="45720" cy="777240"/>
          </a:xfrm>
          <a:prstGeom prst="rect">
            <a:avLst/>
          </a:prstGeom>
          <a:solidFill>
            <a:srgbClr val="7EB3FF"/>
          </a:solidFill>
          <a:ln w="12700">
            <a:solidFill>
              <a:srgbClr val="7EB3FF"/>
            </a:solidFill>
            <a:prstDash val="solid"/>
          </a:ln>
        </p:spPr>
      </p:sp>
      <p:sp>
        <p:nvSpPr>
          <p:cNvPr id="28" name="Text 26"/>
          <p:cNvSpPr txBox="1"/>
          <p:nvPr/>
        </p:nvSpPr>
        <p:spPr>
          <a:xfrm>
            <a:off x="6446520" y="3813048"/>
            <a:ext cx="521208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Input</a:t>
            </a:r>
            <a:endParaRPr lang="en-US" sz="1350" dirty="0"/>
          </a:p>
        </p:txBody>
      </p:sp>
      <p:sp>
        <p:nvSpPr>
          <p:cNvPr id="29" name="Text 27"/>
          <p:cNvSpPr txBox="1"/>
          <p:nvPr/>
        </p:nvSpPr>
        <p:spPr>
          <a:xfrm>
            <a:off x="6446520" y="4087368"/>
            <a:ext cx="5212080" cy="54864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24 pre-processed sensor and process features extracted from SECOM process parameter vectors</a:t>
            </a:r>
            <a:endParaRPr lang="en-US" sz="1100" dirty="0"/>
          </a:p>
        </p:txBody>
      </p:sp>
      <p:sp>
        <p:nvSpPr>
          <p:cNvPr id="30" name="Shape 28"/>
          <p:cNvSpPr/>
          <p:nvPr/>
        </p:nvSpPr>
        <p:spPr>
          <a:xfrm>
            <a:off x="6263640" y="4773168"/>
            <a:ext cx="45720" cy="777240"/>
          </a:xfrm>
          <a:prstGeom prst="rect">
            <a:avLst/>
          </a:prstGeom>
          <a:solidFill>
            <a:srgbClr val="7EB3FF"/>
          </a:solidFill>
          <a:ln w="12700">
            <a:solidFill>
              <a:srgbClr val="7EB3FF"/>
            </a:solidFill>
            <a:prstDash val="solid"/>
          </a:ln>
        </p:spPr>
      </p:sp>
      <p:sp>
        <p:nvSpPr>
          <p:cNvPr id="31" name="Text 29"/>
          <p:cNvSpPr txBox="1"/>
          <p:nvPr/>
        </p:nvSpPr>
        <p:spPr>
          <a:xfrm>
            <a:off x="6446520" y="4745736"/>
            <a:ext cx="521208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Output</a:t>
            </a:r>
            <a:endParaRPr lang="en-US" sz="1350" dirty="0"/>
          </a:p>
        </p:txBody>
      </p:sp>
      <p:sp>
        <p:nvSpPr>
          <p:cNvPr id="32" name="Text 30"/>
          <p:cNvSpPr txBox="1"/>
          <p:nvPr/>
        </p:nvSpPr>
        <p:spPr>
          <a:xfrm>
            <a:off x="6446520" y="5020056"/>
            <a:ext cx="5212080" cy="54864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Binary classification: PASS / FAIL with calibrated failure probability estimate for risk threshold logic</a:t>
            </a:r>
            <a:endParaRPr lang="en-US" sz="1100" dirty="0"/>
          </a:p>
        </p:txBody>
      </p:sp>
      <p:sp>
        <p:nvSpPr>
          <p:cNvPr id="33" name="Shape 31"/>
          <p:cNvSpPr/>
          <p:nvPr/>
        </p:nvSpPr>
        <p:spPr>
          <a:xfrm>
            <a:off x="6263640" y="5705856"/>
            <a:ext cx="45720" cy="777240"/>
          </a:xfrm>
          <a:prstGeom prst="rect">
            <a:avLst/>
          </a:prstGeom>
          <a:solidFill>
            <a:srgbClr val="7EB3FF"/>
          </a:solidFill>
          <a:ln w="12700">
            <a:solidFill>
              <a:srgbClr val="7EB3FF"/>
            </a:solidFill>
            <a:prstDash val="solid"/>
          </a:ln>
        </p:spPr>
      </p:sp>
      <p:sp>
        <p:nvSpPr>
          <p:cNvPr id="34" name="Text 32"/>
          <p:cNvSpPr txBox="1"/>
          <p:nvPr/>
        </p:nvSpPr>
        <p:spPr>
          <a:xfrm>
            <a:off x="6446520" y="5678424"/>
            <a:ext cx="521208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Inference Mode</a:t>
            </a:r>
            <a:endParaRPr lang="en-US" sz="1350" dirty="0"/>
          </a:p>
        </p:txBody>
      </p:sp>
      <p:sp>
        <p:nvSpPr>
          <p:cNvPr id="35" name="Text 33"/>
          <p:cNvSpPr txBox="1"/>
          <p:nvPr/>
        </p:nvSpPr>
        <p:spPr>
          <a:xfrm>
            <a:off x="6446520" y="5952744"/>
            <a:ext cx="5212080" cy="54864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Deterministic prediction with probability estimates; downstream SHAP explainability computed on the same feature vector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11480"/>
            <a:ext cx="11155680" cy="594360"/>
          </a:xfrm>
          <a:prstGeom prst="rect">
            <a:avLst/>
          </a:prstGeom>
          <a:noFill/>
          <a:ln/>
        </p:spPr>
        <p:txBody>
          <a:bodyPr wrap="square" lIns="0" tIns="0" rIns="0" bIns="0" rtlCol="0" anchor="ctr"/>
          <a:lstStyle/>
          <a:p>
            <a:pPr indent="0" marL="0">
              <a:buNone/>
            </a:pPr>
            <a:r>
              <a:rPr lang="en-US" sz="3000" dirty="0">
                <a:solidFill>
                  <a:srgbClr val="1EA0C4"/>
                </a:solidFill>
                <a:latin typeface="Georgia" pitchFamily="34" charset="0"/>
                <a:ea typeface="Georgia" pitchFamily="34" charset="-122"/>
                <a:cs typeface="Georgia" pitchFamily="34" charset="-120"/>
              </a:rPr>
              <a:t>DETECT </a:t>
            </a:r>
            <a:pPr indent="0" marL="0">
              <a:buNone/>
            </a:pPr>
            <a:r>
              <a:rPr lang="en-US" sz="3000" dirty="0">
                <a:solidFill>
                  <a:srgbClr val="F589C9"/>
                </a:solidFill>
                <a:latin typeface="Georgia" pitchFamily="34" charset="0"/>
                <a:ea typeface="Georgia" pitchFamily="34" charset="-122"/>
                <a:cs typeface="Georgia" pitchFamily="34" charset="-120"/>
              </a:rPr>
              <a:t>— Phase 1: Wafer Defect Pattern Classification</a:t>
            </a:r>
            <a:endParaRPr lang="en-US" sz="3000" dirty="0"/>
          </a:p>
        </p:txBody>
      </p:sp>
      <p:sp>
        <p:nvSpPr>
          <p:cNvPr id="3" name="Text 1"/>
          <p:cNvSpPr txBox="1"/>
          <p:nvPr/>
        </p:nvSpPr>
        <p:spPr>
          <a:xfrm>
            <a:off x="521208" y="1188720"/>
            <a:ext cx="525780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Pipeline Inputs</a:t>
            </a:r>
            <a:endParaRPr lang="en-US" sz="1500" dirty="0"/>
          </a:p>
        </p:txBody>
      </p:sp>
      <p:sp>
        <p:nvSpPr>
          <p:cNvPr id="4" name="Shape 2"/>
          <p:cNvSpPr/>
          <p:nvPr/>
        </p:nvSpPr>
        <p:spPr>
          <a:xfrm>
            <a:off x="521208" y="1481328"/>
            <a:ext cx="5257800" cy="621792"/>
          </a:xfrm>
          <a:prstGeom prst="rect">
            <a:avLst/>
          </a:prstGeom>
          <a:solidFill>
            <a:srgbClr val="444652"/>
          </a:solidFill>
          <a:ln w="12700">
            <a:solidFill>
              <a:srgbClr val="444652"/>
            </a:solidFill>
            <a:prstDash val="solid"/>
          </a:ln>
        </p:spPr>
      </p:sp>
      <p:sp>
        <p:nvSpPr>
          <p:cNvPr id="5" name="Text 3"/>
          <p:cNvSpPr txBox="1"/>
          <p:nvPr/>
        </p:nvSpPr>
        <p:spPr>
          <a:xfrm>
            <a:off x="704088" y="1563624"/>
            <a:ext cx="4892040" cy="256032"/>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Wafer Map Image</a:t>
            </a:r>
            <a:endParaRPr lang="en-US" sz="1300" dirty="0"/>
          </a:p>
        </p:txBody>
      </p:sp>
      <p:sp>
        <p:nvSpPr>
          <p:cNvPr id="6" name="Text 4"/>
          <p:cNvSpPr txBox="1"/>
          <p:nvPr/>
        </p:nvSpPr>
        <p:spPr>
          <a:xfrm>
            <a:off x="704088" y="1810512"/>
            <a:ext cx="4892040" cy="274320"/>
          </a:xfrm>
          <a:prstGeom prst="rect">
            <a:avLst/>
          </a:prstGeom>
          <a:noFill/>
          <a:ln/>
        </p:spPr>
        <p:txBody>
          <a:bodyPr wrap="square" lIns="0" tIns="0" rIns="0" bIns="0" rtlCol="0" anchor="ctr"/>
          <a:lstStyle/>
          <a:p>
            <a:pPr indent="0" marL="0">
              <a:buNone/>
            </a:pPr>
            <a:r>
              <a:rPr lang="en-US" sz="1050" dirty="0">
                <a:solidFill>
                  <a:srgbClr val="D6D7E0"/>
                </a:solidFill>
                <a:latin typeface="Arial" pitchFamily="34" charset="0"/>
                <a:ea typeface="Arial" pitchFamily="34" charset="-122"/>
                <a:cs typeface="Arial" pitchFamily="34" charset="-120"/>
              </a:rPr>
              <a:t>Raw grayscale image of the die defect distribution captured from inspection equipment</a:t>
            </a:r>
            <a:endParaRPr lang="en-US" sz="1050" dirty="0"/>
          </a:p>
        </p:txBody>
      </p:sp>
      <p:sp>
        <p:nvSpPr>
          <p:cNvPr id="7" name="Text 5"/>
          <p:cNvSpPr txBox="1"/>
          <p:nvPr/>
        </p:nvSpPr>
        <p:spPr>
          <a:xfrm>
            <a:off x="521208" y="2212848"/>
            <a:ext cx="5257800" cy="320040"/>
          </a:xfrm>
          <a:prstGeom prst="rect">
            <a:avLst/>
          </a:prstGeom>
          <a:noFill/>
          <a:ln/>
        </p:spPr>
        <p:txBody>
          <a:bodyPr wrap="square" lIns="0" tIns="0" rIns="0" bIns="0" rtlCol="0" anchor="ctr"/>
          <a:lstStyle/>
          <a:p>
            <a:pPr indent="0" marL="0">
              <a:buNone/>
            </a:pPr>
            <a:r>
              <a:rPr lang="en-US" sz="1400" b="1" dirty="0">
                <a:solidFill>
                  <a:srgbClr val="D98CC0"/>
                </a:solidFill>
                <a:latin typeface="Arial" pitchFamily="34" charset="0"/>
                <a:ea typeface="Arial" pitchFamily="34" charset="-122"/>
                <a:cs typeface="Arial" pitchFamily="34" charset="-120"/>
              </a:rPr>
              <a:t>Preprocessing Steps</a:t>
            </a:r>
            <a:endParaRPr lang="en-US" sz="1400" dirty="0"/>
          </a:p>
        </p:txBody>
      </p:sp>
      <p:sp>
        <p:nvSpPr>
          <p:cNvPr id="8" name="Text 6"/>
          <p:cNvSpPr txBox="1"/>
          <p:nvPr/>
        </p:nvSpPr>
        <p:spPr>
          <a:xfrm>
            <a:off x="521208" y="2542032"/>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01</a:t>
            </a:r>
            <a:endParaRPr lang="en-US" sz="1100" dirty="0"/>
          </a:p>
        </p:txBody>
      </p:sp>
      <p:pic>
        <p:nvPicPr>
          <p:cNvPr id="9" name="Image 0" descr="grad_horiz.png">    </p:cNvPr>
          <p:cNvPicPr>
            <a:picLocks noChangeAspect="1"/>
          </p:cNvPicPr>
          <p:nvPr/>
        </p:nvPicPr>
        <p:blipFill>
          <a:blip r:embed="rId1"/>
          <a:stretch>
            <a:fillRect/>
          </a:stretch>
        </p:blipFill>
        <p:spPr>
          <a:xfrm>
            <a:off x="521208" y="2761488"/>
            <a:ext cx="5257800" cy="27432"/>
          </a:xfrm>
          <a:prstGeom prst="rect">
            <a:avLst/>
          </a:prstGeom>
        </p:spPr>
      </p:pic>
      <p:sp>
        <p:nvSpPr>
          <p:cNvPr id="10" name="Text 7"/>
          <p:cNvSpPr txBox="1"/>
          <p:nvPr/>
        </p:nvSpPr>
        <p:spPr>
          <a:xfrm>
            <a:off x="521208" y="2816352"/>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Resize</a:t>
            </a:r>
            <a:endParaRPr lang="en-US" sz="1350" dirty="0"/>
          </a:p>
        </p:txBody>
      </p:sp>
      <p:sp>
        <p:nvSpPr>
          <p:cNvPr id="11" name="Text 8"/>
          <p:cNvSpPr txBox="1"/>
          <p:nvPr/>
        </p:nvSpPr>
        <p:spPr>
          <a:xfrm>
            <a:off x="521208" y="3072384"/>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Image scaled to 64×64 pixels for consistent CNN input dimensions</a:t>
            </a:r>
            <a:endParaRPr lang="en-US" sz="1050" dirty="0"/>
          </a:p>
        </p:txBody>
      </p:sp>
      <p:sp>
        <p:nvSpPr>
          <p:cNvPr id="12" name="Text 9"/>
          <p:cNvSpPr txBox="1"/>
          <p:nvPr/>
        </p:nvSpPr>
        <p:spPr>
          <a:xfrm>
            <a:off x="521208" y="3483864"/>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02</a:t>
            </a:r>
            <a:endParaRPr lang="en-US" sz="1100" dirty="0"/>
          </a:p>
        </p:txBody>
      </p:sp>
      <p:pic>
        <p:nvPicPr>
          <p:cNvPr id="13" name="Image 1" descr="grad_horiz.png">    </p:cNvPr>
          <p:cNvPicPr>
            <a:picLocks noChangeAspect="1"/>
          </p:cNvPicPr>
          <p:nvPr/>
        </p:nvPicPr>
        <p:blipFill>
          <a:blip r:embed="rId2"/>
          <a:stretch>
            <a:fillRect/>
          </a:stretch>
        </p:blipFill>
        <p:spPr>
          <a:xfrm>
            <a:off x="521208" y="3703320"/>
            <a:ext cx="5257800" cy="27432"/>
          </a:xfrm>
          <a:prstGeom prst="rect">
            <a:avLst/>
          </a:prstGeom>
        </p:spPr>
      </p:pic>
      <p:sp>
        <p:nvSpPr>
          <p:cNvPr id="14" name="Text 10"/>
          <p:cNvSpPr txBox="1"/>
          <p:nvPr/>
        </p:nvSpPr>
        <p:spPr>
          <a:xfrm>
            <a:off x="521208" y="3758184"/>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Normalize</a:t>
            </a:r>
            <a:endParaRPr lang="en-US" sz="1350" dirty="0"/>
          </a:p>
        </p:txBody>
      </p:sp>
      <p:sp>
        <p:nvSpPr>
          <p:cNvPr id="15" name="Text 11"/>
          <p:cNvSpPr txBox="1"/>
          <p:nvPr/>
        </p:nvSpPr>
        <p:spPr>
          <a:xfrm>
            <a:off x="521208" y="4014216"/>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Pixel values normalized to standard range for stable gradient behavior</a:t>
            </a:r>
            <a:endParaRPr lang="en-US" sz="1050" dirty="0"/>
          </a:p>
        </p:txBody>
      </p:sp>
      <p:sp>
        <p:nvSpPr>
          <p:cNvPr id="16" name="Text 12"/>
          <p:cNvSpPr txBox="1"/>
          <p:nvPr/>
        </p:nvSpPr>
        <p:spPr>
          <a:xfrm>
            <a:off x="521208" y="4425696"/>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03</a:t>
            </a:r>
            <a:endParaRPr lang="en-US" sz="1100" dirty="0"/>
          </a:p>
        </p:txBody>
      </p:sp>
      <p:pic>
        <p:nvPicPr>
          <p:cNvPr id="17" name="Image 2" descr="grad_horiz.png">    </p:cNvPr>
          <p:cNvPicPr>
            <a:picLocks noChangeAspect="1"/>
          </p:cNvPicPr>
          <p:nvPr/>
        </p:nvPicPr>
        <p:blipFill>
          <a:blip r:embed="rId3"/>
          <a:stretch>
            <a:fillRect/>
          </a:stretch>
        </p:blipFill>
        <p:spPr>
          <a:xfrm>
            <a:off x="521208" y="4645152"/>
            <a:ext cx="5257800" cy="27432"/>
          </a:xfrm>
          <a:prstGeom prst="rect">
            <a:avLst/>
          </a:prstGeom>
        </p:spPr>
      </p:pic>
      <p:sp>
        <p:nvSpPr>
          <p:cNvPr id="18" name="Text 13"/>
          <p:cNvSpPr txBox="1"/>
          <p:nvPr/>
        </p:nvSpPr>
        <p:spPr>
          <a:xfrm>
            <a:off x="521208" y="4700016"/>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Forward Pass</a:t>
            </a:r>
            <a:endParaRPr lang="en-US" sz="1350" dirty="0"/>
          </a:p>
        </p:txBody>
      </p:sp>
      <p:sp>
        <p:nvSpPr>
          <p:cNvPr id="19" name="Text 14"/>
          <p:cNvSpPr txBox="1"/>
          <p:nvPr/>
        </p:nvSpPr>
        <p:spPr>
          <a:xfrm>
            <a:off x="521208" y="4956048"/>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Processed tensor passed through 3-layer PyTorch CNN</a:t>
            </a:r>
            <a:endParaRPr lang="en-US" sz="1050" dirty="0"/>
          </a:p>
        </p:txBody>
      </p:sp>
      <p:sp>
        <p:nvSpPr>
          <p:cNvPr id="20" name="Text 15"/>
          <p:cNvSpPr txBox="1"/>
          <p:nvPr/>
        </p:nvSpPr>
        <p:spPr>
          <a:xfrm>
            <a:off x="521208" y="536752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04</a:t>
            </a:r>
            <a:endParaRPr lang="en-US" sz="1100" dirty="0"/>
          </a:p>
        </p:txBody>
      </p:sp>
      <p:pic>
        <p:nvPicPr>
          <p:cNvPr id="21" name="Image 3" descr="grad_horiz.png">    </p:cNvPr>
          <p:cNvPicPr>
            <a:picLocks noChangeAspect="1"/>
          </p:cNvPicPr>
          <p:nvPr/>
        </p:nvPicPr>
        <p:blipFill>
          <a:blip r:embed="rId4"/>
          <a:stretch>
            <a:fillRect/>
          </a:stretch>
        </p:blipFill>
        <p:spPr>
          <a:xfrm>
            <a:off x="521208" y="5586984"/>
            <a:ext cx="5257800" cy="27432"/>
          </a:xfrm>
          <a:prstGeom prst="rect">
            <a:avLst/>
          </a:prstGeom>
        </p:spPr>
      </p:pic>
      <p:sp>
        <p:nvSpPr>
          <p:cNvPr id="22" name="Text 16"/>
          <p:cNvSpPr txBox="1"/>
          <p:nvPr/>
        </p:nvSpPr>
        <p:spPr>
          <a:xfrm>
            <a:off x="521208" y="564184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Softmax</a:t>
            </a:r>
            <a:endParaRPr lang="en-US" sz="1350" dirty="0"/>
          </a:p>
        </p:txBody>
      </p:sp>
      <p:sp>
        <p:nvSpPr>
          <p:cNvPr id="23" name="Text 17"/>
          <p:cNvSpPr txBox="1"/>
          <p:nvPr/>
        </p:nvSpPr>
        <p:spPr>
          <a:xfrm>
            <a:off x="521208" y="589788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Output layer produces probability distribution across all 9 defect classes</a:t>
            </a:r>
            <a:endParaRPr lang="en-US" sz="1050" dirty="0"/>
          </a:p>
        </p:txBody>
      </p:sp>
      <p:sp>
        <p:nvSpPr>
          <p:cNvPr id="24" name="Text 18"/>
          <p:cNvSpPr txBox="1"/>
          <p:nvPr/>
        </p:nvSpPr>
        <p:spPr>
          <a:xfrm>
            <a:off x="6126480" y="1188720"/>
            <a:ext cx="553212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Output &amp; Interpretation</a:t>
            </a:r>
            <a:endParaRPr lang="en-US" sz="1500" dirty="0"/>
          </a:p>
        </p:txBody>
      </p:sp>
      <p:sp>
        <p:nvSpPr>
          <p:cNvPr id="25" name="Text 19"/>
          <p:cNvSpPr txBox="1"/>
          <p:nvPr/>
        </p:nvSpPr>
        <p:spPr>
          <a:xfrm>
            <a:off x="6126480" y="1536192"/>
            <a:ext cx="5532120" cy="777240"/>
          </a:xfrm>
          <a:prstGeom prst="rect">
            <a:avLst/>
          </a:prstGeom>
          <a:noFill/>
          <a:ln/>
        </p:spPr>
        <p:txBody>
          <a:bodyPr wrap="square" lIns="0" tIns="0" rIns="0" bIns="0" rtlCol="0" anchor="ctr"/>
          <a:lstStyle/>
          <a:p>
            <a:pPr algn="l" indent="0" marL="0">
              <a:lnSpc>
                <a:spcPct val="115000"/>
              </a:lnSpc>
              <a:buNone/>
            </a:pPr>
            <a:r>
              <a:rPr lang="en-US" sz="1150" dirty="0">
                <a:solidFill>
                  <a:srgbClr val="D6D7E0"/>
                </a:solidFill>
                <a:latin typeface="Arial" pitchFamily="34" charset="0"/>
                <a:ea typeface="Arial" pitchFamily="34" charset="-122"/>
                <a:cs typeface="Arial" pitchFamily="34" charset="-120"/>
              </a:rPr>
              <a:t>The model returns the predicted defect class alongside a confidence score derived from the softmax probability of the top class. This classification directly informs process engineering decisions — different defect patterns correspond to distinct upstream process failure modes.</a:t>
            </a:r>
            <a:endParaRPr lang="en-US" sz="1150" dirty="0"/>
          </a:p>
        </p:txBody>
      </p:sp>
      <p:sp>
        <p:nvSpPr>
          <p:cNvPr id="26" name="Shape 20"/>
          <p:cNvSpPr/>
          <p:nvPr/>
        </p:nvSpPr>
        <p:spPr>
          <a:xfrm>
            <a:off x="6126480" y="2377440"/>
            <a:ext cx="2697480" cy="960120"/>
          </a:xfrm>
          <a:prstGeom prst="rect">
            <a:avLst/>
          </a:prstGeom>
          <a:solidFill>
            <a:srgbClr val="252733"/>
          </a:solidFill>
          <a:ln w="12700">
            <a:solidFill>
              <a:srgbClr val="5C5E70"/>
            </a:solidFill>
            <a:prstDash val="solid"/>
          </a:ln>
        </p:spPr>
      </p:sp>
      <p:sp>
        <p:nvSpPr>
          <p:cNvPr id="27" name="Text 21"/>
          <p:cNvSpPr txBox="1"/>
          <p:nvPr/>
        </p:nvSpPr>
        <p:spPr>
          <a:xfrm>
            <a:off x="6309360" y="2478024"/>
            <a:ext cx="2331720" cy="23774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Predicted Class</a:t>
            </a:r>
            <a:endParaRPr lang="en-US" sz="1500" dirty="0"/>
          </a:p>
        </p:txBody>
      </p:sp>
      <p:sp>
        <p:nvSpPr>
          <p:cNvPr id="28" name="Text 22"/>
          <p:cNvSpPr txBox="1"/>
          <p:nvPr/>
        </p:nvSpPr>
        <p:spPr>
          <a:xfrm>
            <a:off x="6309360" y="2752344"/>
            <a:ext cx="2331720" cy="539496"/>
          </a:xfrm>
          <a:prstGeom prst="rect">
            <a:avLst/>
          </a:prstGeom>
          <a:noFill/>
          <a:ln/>
        </p:spPr>
        <p:txBody>
          <a:bodyPr wrap="square" lIns="0" tIns="0" rIns="0" bIns="0" rtlCol="0" anchor="ctr"/>
          <a:lstStyle/>
          <a:p>
            <a:pPr indent="0" marL="0">
              <a:lnSpc>
                <a:spcPct val="105000"/>
              </a:lnSpc>
              <a:buNone/>
            </a:pPr>
            <a:r>
              <a:rPr lang="en-US" sz="1050" dirty="0">
                <a:solidFill>
                  <a:srgbClr val="D6D7E0"/>
                </a:solidFill>
                <a:latin typeface="Arial" pitchFamily="34" charset="0"/>
                <a:ea typeface="Arial" pitchFamily="34" charset="-122"/>
                <a:cs typeface="Arial" pitchFamily="34" charset="-120"/>
              </a:rPr>
              <a:t>Defect pattern label from 9-class taxonomy (e.g., Edge-Loc)</a:t>
            </a:r>
            <a:endParaRPr lang="en-US" sz="1050" dirty="0"/>
          </a:p>
        </p:txBody>
      </p:sp>
      <p:sp>
        <p:nvSpPr>
          <p:cNvPr id="29" name="Shape 23"/>
          <p:cNvSpPr/>
          <p:nvPr/>
        </p:nvSpPr>
        <p:spPr>
          <a:xfrm>
            <a:off x="8961120" y="2377440"/>
            <a:ext cx="2697480" cy="960120"/>
          </a:xfrm>
          <a:prstGeom prst="rect">
            <a:avLst/>
          </a:prstGeom>
          <a:solidFill>
            <a:srgbClr val="252733"/>
          </a:solidFill>
          <a:ln w="12700">
            <a:solidFill>
              <a:srgbClr val="5C5E70"/>
            </a:solidFill>
            <a:prstDash val="solid"/>
          </a:ln>
        </p:spPr>
      </p:sp>
      <p:sp>
        <p:nvSpPr>
          <p:cNvPr id="30" name="Text 24"/>
          <p:cNvSpPr txBox="1"/>
          <p:nvPr/>
        </p:nvSpPr>
        <p:spPr>
          <a:xfrm>
            <a:off x="9144000" y="2478024"/>
            <a:ext cx="2331720" cy="23774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Confidence Score</a:t>
            </a:r>
            <a:endParaRPr lang="en-US" sz="1500" dirty="0"/>
          </a:p>
        </p:txBody>
      </p:sp>
      <p:sp>
        <p:nvSpPr>
          <p:cNvPr id="31" name="Text 25"/>
          <p:cNvSpPr txBox="1"/>
          <p:nvPr/>
        </p:nvSpPr>
        <p:spPr>
          <a:xfrm>
            <a:off x="9144000" y="2752344"/>
            <a:ext cx="2331720" cy="539496"/>
          </a:xfrm>
          <a:prstGeom prst="rect">
            <a:avLst/>
          </a:prstGeom>
          <a:noFill/>
          <a:ln/>
        </p:spPr>
        <p:txBody>
          <a:bodyPr wrap="square" lIns="0" tIns="0" rIns="0" bIns="0" rtlCol="0" anchor="ctr"/>
          <a:lstStyle/>
          <a:p>
            <a:pPr indent="0" marL="0">
              <a:lnSpc>
                <a:spcPct val="105000"/>
              </a:lnSpc>
              <a:buNone/>
            </a:pPr>
            <a:r>
              <a:rPr lang="en-US" sz="1050" dirty="0">
                <a:solidFill>
                  <a:srgbClr val="D6D7E0"/>
                </a:solidFill>
                <a:latin typeface="Arial" pitchFamily="34" charset="0"/>
                <a:ea typeface="Arial" pitchFamily="34" charset="-122"/>
                <a:cs typeface="Arial" pitchFamily="34" charset="-120"/>
              </a:rPr>
              <a:t>Softmax probability of the top-ranked class (e.g., 0.87)</a:t>
            </a:r>
            <a:endParaRPr lang="en-US" sz="1050" dirty="0"/>
          </a:p>
        </p:txBody>
      </p:sp>
      <p:sp>
        <p:nvSpPr>
          <p:cNvPr id="32" name="Shape 26"/>
          <p:cNvSpPr/>
          <p:nvPr/>
        </p:nvSpPr>
        <p:spPr>
          <a:xfrm>
            <a:off x="6126480" y="3456432"/>
            <a:ext cx="5532120" cy="685800"/>
          </a:xfrm>
          <a:prstGeom prst="rect">
            <a:avLst/>
          </a:prstGeom>
          <a:solidFill>
            <a:srgbClr val="252733"/>
          </a:solidFill>
          <a:ln w="12700">
            <a:solidFill>
              <a:srgbClr val="5C5E70"/>
            </a:solidFill>
            <a:prstDash val="solid"/>
          </a:ln>
        </p:spPr>
      </p:sp>
      <p:sp>
        <p:nvSpPr>
          <p:cNvPr id="33" name="Text 27"/>
          <p:cNvSpPr txBox="1"/>
          <p:nvPr/>
        </p:nvSpPr>
        <p:spPr>
          <a:xfrm>
            <a:off x="6309360" y="3557016"/>
            <a:ext cx="5166360" cy="23774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Full Distribution</a:t>
            </a:r>
            <a:endParaRPr lang="en-US" sz="1500" dirty="0"/>
          </a:p>
        </p:txBody>
      </p:sp>
      <p:sp>
        <p:nvSpPr>
          <p:cNvPr id="34" name="Text 28"/>
          <p:cNvSpPr txBox="1"/>
          <p:nvPr/>
        </p:nvSpPr>
        <p:spPr>
          <a:xfrm>
            <a:off x="6309360" y="3831336"/>
            <a:ext cx="5166360" cy="265176"/>
          </a:xfrm>
          <a:prstGeom prst="rect">
            <a:avLst/>
          </a:prstGeom>
          <a:noFill/>
          <a:ln/>
        </p:spPr>
        <p:txBody>
          <a:bodyPr wrap="square" lIns="0" tIns="0" rIns="0" bIns="0" rtlCol="0" anchor="ctr"/>
          <a:lstStyle/>
          <a:p>
            <a:pPr indent="0" marL="0">
              <a:lnSpc>
                <a:spcPct val="105000"/>
              </a:lnSpc>
              <a:buNone/>
            </a:pPr>
            <a:r>
              <a:rPr lang="en-US" sz="1050" dirty="0">
                <a:solidFill>
                  <a:srgbClr val="D6D7E0"/>
                </a:solidFill>
                <a:latin typeface="Arial" pitchFamily="34" charset="0"/>
                <a:ea typeface="Arial" pitchFamily="34" charset="-122"/>
                <a:cs typeface="Arial" pitchFamily="34" charset="-120"/>
              </a:rPr>
              <a:t>Per-class probability scores available for borderline or ambiguous cases</a:t>
            </a:r>
            <a:endParaRPr lang="en-US" sz="1050" dirty="0"/>
          </a:p>
        </p:txBody>
      </p:sp>
      <p:sp>
        <p:nvSpPr>
          <p:cNvPr id="35" name="Shape 29"/>
          <p:cNvSpPr/>
          <p:nvPr/>
        </p:nvSpPr>
        <p:spPr>
          <a:xfrm>
            <a:off x="6126480" y="4279392"/>
            <a:ext cx="5532120" cy="658368"/>
          </a:xfrm>
          <a:prstGeom prst="roundRect">
            <a:avLst>
              <a:gd name="adj" fmla="val 6944"/>
            </a:avLst>
          </a:prstGeom>
          <a:solidFill>
            <a:srgbClr val="741847"/>
          </a:solidFill>
          <a:ln w="12700">
            <a:solidFill>
              <a:srgbClr val="741847"/>
            </a:solidFill>
            <a:prstDash val="solid"/>
          </a:ln>
        </p:spPr>
      </p:sp>
      <p:sp>
        <p:nvSpPr>
          <p:cNvPr id="36" name="Text 30"/>
          <p:cNvSpPr txBox="1"/>
          <p:nvPr/>
        </p:nvSpPr>
        <p:spPr>
          <a:xfrm>
            <a:off x="6309360" y="4370832"/>
            <a:ext cx="5166360" cy="502920"/>
          </a:xfrm>
          <a:prstGeom prst="rect">
            <a:avLst/>
          </a:prstGeom>
          <a:noFill/>
          <a:ln/>
        </p:spPr>
        <p:txBody>
          <a:bodyPr wrap="square" lIns="0" tIns="0" rIns="0" bIns="0" rtlCol="0" anchor="ctr"/>
          <a:lstStyle/>
          <a:p>
            <a:pPr indent="0" marL="0">
              <a:lnSpc>
                <a:spcPct val="110000"/>
              </a:lnSpc>
              <a:buNone/>
            </a:pPr>
            <a:r>
              <a:rPr lang="en-US" sz="1100" b="1" dirty="0">
                <a:solidFill>
                  <a:srgbClr val="FFFFFF"/>
                </a:solidFill>
                <a:latin typeface="Arial" pitchFamily="34" charset="0"/>
                <a:ea typeface="Arial" pitchFamily="34" charset="-122"/>
                <a:cs typeface="Arial" pitchFamily="34" charset="-120"/>
              </a:rPr>
              <a:t>Illustrative example: </a:t>
            </a:r>
            <a:pPr indent="0" marL="0">
              <a:lnSpc>
                <a:spcPct val="110000"/>
              </a:lnSpc>
              <a:buNone/>
            </a:pPr>
            <a:r>
              <a:rPr lang="en-US" sz="1100" dirty="0">
                <a:solidFill>
                  <a:srgbClr val="FFFFFF"/>
                </a:solidFill>
                <a:latin typeface="Arial" pitchFamily="34" charset="0"/>
                <a:ea typeface="Arial" pitchFamily="34" charset="-122"/>
                <a:cs typeface="Arial" pitchFamily="34" charset="-120"/>
              </a:rPr>
              <a:t>Prediction = "Edge-Loc" · Confidence: 0.87. Actual inference values depend on the submitted wafer image.</a:t>
            </a:r>
            <a:endParaRPr lang="en-US" sz="1100" dirty="0"/>
          </a:p>
        </p:txBody>
      </p:sp>
      <p:sp>
        <p:nvSpPr>
          <p:cNvPr id="37" name="Text 31"/>
          <p:cNvSpPr txBox="1"/>
          <p:nvPr/>
        </p:nvSpPr>
        <p:spPr>
          <a:xfrm>
            <a:off x="6126480" y="5120640"/>
            <a:ext cx="553212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Supported Defect Taxonomy</a:t>
            </a:r>
            <a:endParaRPr lang="en-US" sz="1500" dirty="0"/>
          </a:p>
        </p:txBody>
      </p:sp>
      <p:sp>
        <p:nvSpPr>
          <p:cNvPr id="38" name="Text 32"/>
          <p:cNvSpPr txBox="1"/>
          <p:nvPr/>
        </p:nvSpPr>
        <p:spPr>
          <a:xfrm>
            <a:off x="6126480" y="5440680"/>
            <a:ext cx="553212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Center</a:t>
            </a:r>
            <a:pPr indent="0" marL="0">
              <a:buNone/>
            </a:pPr>
            <a:r>
              <a:rPr lang="en-US" sz="1200" dirty="0">
                <a:solidFill>
                  <a:srgbClr val="FFFFFF"/>
                </a:solidFill>
                <a:latin typeface="Arial" pitchFamily="34" charset="0"/>
                <a:ea typeface="Arial" pitchFamily="34" charset="-122"/>
                <a:cs typeface="Arial" pitchFamily="34" charset="-120"/>
              </a:rPr>
              <a:t> · </a:t>
            </a:r>
            <a:pPr indent="0" marL="0">
              <a:buNone/>
            </a:pPr>
            <a:r>
              <a:rPr lang="en-US" sz="1200" b="1" dirty="0">
                <a:solidFill>
                  <a:srgbClr val="FFFFFF"/>
                </a:solidFill>
                <a:latin typeface="Arial" pitchFamily="34" charset="0"/>
                <a:ea typeface="Arial" pitchFamily="34" charset="-122"/>
                <a:cs typeface="Arial" pitchFamily="34" charset="-120"/>
              </a:rPr>
              <a:t>Donut</a:t>
            </a:r>
            <a:pPr indent="0" marL="0">
              <a:buNone/>
            </a:pPr>
            <a:r>
              <a:rPr lang="en-US" sz="1200" dirty="0">
                <a:solidFill>
                  <a:srgbClr val="FFFFFF"/>
                </a:solidFill>
                <a:latin typeface="Arial" pitchFamily="34" charset="0"/>
                <a:ea typeface="Arial" pitchFamily="34" charset="-122"/>
                <a:cs typeface="Arial" pitchFamily="34" charset="-120"/>
              </a:rPr>
              <a:t> · </a:t>
            </a:r>
            <a:pPr indent="0" marL="0">
              <a:buNone/>
            </a:pPr>
            <a:r>
              <a:rPr lang="en-US" sz="1200" b="1" dirty="0">
                <a:solidFill>
                  <a:srgbClr val="FFFFFF"/>
                </a:solidFill>
                <a:latin typeface="Arial" pitchFamily="34" charset="0"/>
                <a:ea typeface="Arial" pitchFamily="34" charset="-122"/>
                <a:cs typeface="Arial" pitchFamily="34" charset="-120"/>
              </a:rPr>
              <a:t>Edge-Loc</a:t>
            </a:r>
            <a:pPr indent="0" marL="0">
              <a:buNone/>
            </a:pPr>
            <a:r>
              <a:rPr lang="en-US" sz="1200" dirty="0">
                <a:solidFill>
                  <a:srgbClr val="FFFFFF"/>
                </a:solidFill>
                <a:latin typeface="Arial" pitchFamily="34" charset="0"/>
                <a:ea typeface="Arial" pitchFamily="34" charset="-122"/>
                <a:cs typeface="Arial" pitchFamily="34" charset="-120"/>
              </a:rPr>
              <a:t> · </a:t>
            </a:r>
            <a:pPr indent="0" marL="0">
              <a:buNone/>
            </a:pPr>
            <a:r>
              <a:rPr lang="en-US" sz="1200" b="1" dirty="0">
                <a:solidFill>
                  <a:srgbClr val="FFFFFF"/>
                </a:solidFill>
                <a:latin typeface="Arial" pitchFamily="34" charset="0"/>
                <a:ea typeface="Arial" pitchFamily="34" charset="-122"/>
                <a:cs typeface="Arial" pitchFamily="34" charset="-120"/>
              </a:rPr>
              <a:t>Edge-Ring</a:t>
            </a:r>
            <a:pPr indent="0" marL="0">
              <a:buNone/>
            </a:pPr>
            <a:r>
              <a:rPr lang="en-US" sz="1200" dirty="0">
                <a:solidFill>
                  <a:srgbClr val="FFFFFF"/>
                </a:solidFill>
                <a:latin typeface="Arial" pitchFamily="34" charset="0"/>
                <a:ea typeface="Arial" pitchFamily="34" charset="-122"/>
                <a:cs typeface="Arial" pitchFamily="34" charset="-120"/>
              </a:rPr>
              <a:t> · </a:t>
            </a:r>
            <a:pPr indent="0" marL="0">
              <a:buNone/>
            </a:pPr>
            <a:r>
              <a:rPr lang="en-US" sz="1200" b="1" dirty="0">
                <a:solidFill>
                  <a:srgbClr val="FFFFFF"/>
                </a:solidFill>
                <a:latin typeface="Arial" pitchFamily="34" charset="0"/>
                <a:ea typeface="Arial" pitchFamily="34" charset="-122"/>
                <a:cs typeface="Arial" pitchFamily="34" charset="-120"/>
              </a:rPr>
              <a:t>Loc</a:t>
            </a:r>
            <a:pPr indent="0" marL="0">
              <a:buNone/>
            </a:pPr>
            <a:r>
              <a:rPr lang="en-US" sz="1200" dirty="0">
                <a:solidFill>
                  <a:srgbClr val="FFFFFF"/>
                </a:solidFill>
                <a:latin typeface="Arial" pitchFamily="34" charset="0"/>
                <a:ea typeface="Arial" pitchFamily="34" charset="-122"/>
                <a:cs typeface="Arial" pitchFamily="34" charset="-120"/>
              </a:rPr>
              <a:t> · </a:t>
            </a:r>
            <a:pPr indent="0" marL="0">
              <a:buNone/>
            </a:pPr>
            <a:r>
              <a:rPr lang="en-US" sz="1200" b="1" dirty="0">
                <a:solidFill>
                  <a:srgbClr val="FFFFFF"/>
                </a:solidFill>
                <a:latin typeface="Arial" pitchFamily="34" charset="0"/>
                <a:ea typeface="Arial" pitchFamily="34" charset="-122"/>
                <a:cs typeface="Arial" pitchFamily="34" charset="-120"/>
              </a:rPr>
              <a:t>Random</a:t>
            </a:r>
            <a:pPr indent="0" marL="0">
              <a:buNone/>
            </a:pPr>
            <a:r>
              <a:rPr lang="en-US" sz="1200" dirty="0">
                <a:solidFill>
                  <a:srgbClr val="FFFFFF"/>
                </a:solidFill>
                <a:latin typeface="Arial" pitchFamily="34" charset="0"/>
                <a:ea typeface="Arial" pitchFamily="34" charset="-122"/>
                <a:cs typeface="Arial" pitchFamily="34" charset="-120"/>
              </a:rPr>
              <a:t> · </a:t>
            </a:r>
            <a:pPr indent="0" marL="0">
              <a:buNone/>
            </a:pPr>
            <a:r>
              <a:rPr lang="en-US" sz="1200" b="1" dirty="0">
                <a:solidFill>
                  <a:srgbClr val="FFFFFF"/>
                </a:solidFill>
                <a:latin typeface="Arial" pitchFamily="34" charset="0"/>
                <a:ea typeface="Arial" pitchFamily="34" charset="-122"/>
                <a:cs typeface="Arial" pitchFamily="34" charset="-120"/>
              </a:rPr>
              <a:t>Scratch</a:t>
            </a:r>
            <a:pPr indent="0" marL="0">
              <a:buNone/>
            </a:pPr>
            <a:r>
              <a:rPr lang="en-US" sz="1200" dirty="0">
                <a:solidFill>
                  <a:srgbClr val="FFFFFF"/>
                </a:solidFill>
                <a:latin typeface="Arial" pitchFamily="34" charset="0"/>
                <a:ea typeface="Arial" pitchFamily="34" charset="-122"/>
                <a:cs typeface="Arial" pitchFamily="34" charset="-120"/>
              </a:rPr>
              <a:t> · </a:t>
            </a:r>
            <a:pPr indent="0" marL="0">
              <a:buNone/>
            </a:pPr>
            <a:r>
              <a:rPr lang="en-US" sz="1200" b="1" dirty="0">
                <a:solidFill>
                  <a:srgbClr val="FFFFFF"/>
                </a:solidFill>
                <a:latin typeface="Arial" pitchFamily="34" charset="0"/>
                <a:ea typeface="Arial" pitchFamily="34" charset="-122"/>
                <a:cs typeface="Arial" pitchFamily="34" charset="-120"/>
              </a:rPr>
              <a:t>Near-full</a:t>
            </a:r>
            <a:pPr indent="0" marL="0">
              <a:buNone/>
            </a:pPr>
            <a:r>
              <a:rPr lang="en-US" sz="1200" dirty="0">
                <a:solidFill>
                  <a:srgbClr val="FFFFFF"/>
                </a:solidFill>
                <a:latin typeface="Arial" pitchFamily="34" charset="0"/>
                <a:ea typeface="Arial" pitchFamily="34" charset="-122"/>
                <a:cs typeface="Arial" pitchFamily="34" charset="-120"/>
              </a:rPr>
              <a:t> · </a:t>
            </a:r>
            <a:pPr indent="0" marL="0">
              <a:buNone/>
            </a:pPr>
            <a:r>
              <a:rPr lang="en-US" sz="1200" b="1" dirty="0">
                <a:solidFill>
                  <a:srgbClr val="FFFFFF"/>
                </a:solidFill>
                <a:latin typeface="Arial" pitchFamily="34" charset="0"/>
                <a:ea typeface="Arial" pitchFamily="34" charset="-122"/>
                <a:cs typeface="Arial" pitchFamily="34" charset="-120"/>
              </a:rPr>
              <a:t>None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11480"/>
            <a:ext cx="11155680" cy="594360"/>
          </a:xfrm>
          <a:prstGeom prst="rect">
            <a:avLst/>
          </a:prstGeom>
          <a:noFill/>
          <a:ln/>
        </p:spPr>
        <p:txBody>
          <a:bodyPr wrap="square" lIns="0" tIns="0" rIns="0" bIns="0" rtlCol="0" anchor="ctr"/>
          <a:lstStyle/>
          <a:p>
            <a:pPr indent="0" marL="0">
              <a:buNone/>
            </a:pPr>
            <a:r>
              <a:rPr lang="en-US" sz="3000" dirty="0">
                <a:solidFill>
                  <a:srgbClr val="1EA0C4"/>
                </a:solidFill>
                <a:latin typeface="Georgia" pitchFamily="34" charset="0"/>
                <a:ea typeface="Georgia" pitchFamily="34" charset="-122"/>
                <a:cs typeface="Georgia" pitchFamily="34" charset="-120"/>
              </a:rPr>
              <a:t>PREDICT </a:t>
            </a:r>
            <a:pPr indent="0" marL="0">
              <a:buNone/>
            </a:pPr>
            <a:r>
              <a:rPr lang="en-US" sz="3000" dirty="0">
                <a:solidFill>
                  <a:srgbClr val="F589C9"/>
                </a:solidFill>
                <a:latin typeface="Georgia" pitchFamily="34" charset="0"/>
                <a:ea typeface="Georgia" pitchFamily="34" charset="-122"/>
                <a:cs typeface="Georgia" pitchFamily="34" charset="-120"/>
              </a:rPr>
              <a:t>— Phase 2: Process Risk Assessment</a:t>
            </a:r>
            <a:endParaRPr lang="en-US" sz="3000" dirty="0"/>
          </a:p>
        </p:txBody>
      </p:sp>
      <p:sp>
        <p:nvSpPr>
          <p:cNvPr id="3" name="Shape 1"/>
          <p:cNvSpPr/>
          <p:nvPr/>
        </p:nvSpPr>
        <p:spPr>
          <a:xfrm>
            <a:off x="521208" y="1188720"/>
            <a:ext cx="5120640" cy="5074920"/>
          </a:xfrm>
          <a:prstGeom prst="rect">
            <a:avLst/>
          </a:prstGeom>
          <a:solidFill>
            <a:srgbClr val="003466"/>
          </a:solidFill>
          <a:ln w="12700">
            <a:solidFill>
              <a:srgbClr val="003466"/>
            </a:solidFill>
            <a:prstDash val="solid"/>
          </a:ln>
        </p:spPr>
      </p:sp>
      <p:sp>
        <p:nvSpPr>
          <p:cNvPr id="4" name="Text 2"/>
          <p:cNvSpPr txBox="1"/>
          <p:nvPr/>
        </p:nvSpPr>
        <p:spPr>
          <a:xfrm>
            <a:off x="749808" y="1371600"/>
            <a:ext cx="4663440" cy="292608"/>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Why Process Risk Matters</a:t>
            </a:r>
            <a:endParaRPr lang="en-US" sz="1500" dirty="0"/>
          </a:p>
        </p:txBody>
      </p:sp>
      <p:sp>
        <p:nvSpPr>
          <p:cNvPr id="5" name="Text 3"/>
          <p:cNvSpPr txBox="1"/>
          <p:nvPr/>
        </p:nvSpPr>
        <p:spPr>
          <a:xfrm>
            <a:off x="749808" y="1719072"/>
            <a:ext cx="4663440" cy="868680"/>
          </a:xfrm>
          <a:prstGeom prst="rect">
            <a:avLst/>
          </a:prstGeom>
          <a:noFill/>
          <a:ln/>
        </p:spPr>
        <p:txBody>
          <a:bodyPr wrap="square" lIns="0" tIns="0" rIns="0" bIns="0" rtlCol="0" anchor="ctr"/>
          <a:lstStyle/>
          <a:p>
            <a:pPr algn="l" indent="0" marL="0">
              <a:lnSpc>
                <a:spcPct val="115000"/>
              </a:lnSpc>
              <a:buNone/>
            </a:pPr>
            <a:r>
              <a:rPr lang="en-US" sz="1150" dirty="0">
                <a:solidFill>
                  <a:srgbClr val="FFFFFF"/>
                </a:solidFill>
                <a:latin typeface="Arial" pitchFamily="34" charset="0"/>
                <a:ea typeface="Arial" pitchFamily="34" charset="-122"/>
                <a:cs typeface="Arial" pitchFamily="34" charset="-120"/>
              </a:rPr>
              <a:t>Physical wafer inspection reveals defects after they occur. The SECOM classifier operates on process parameters — enabling risk identification before inspection, and supporting proactive intervention during the manufacturing window when corrective action is still possible.</a:t>
            </a:r>
            <a:endParaRPr lang="en-US" sz="1150" dirty="0"/>
          </a:p>
        </p:txBody>
      </p:sp>
      <p:sp>
        <p:nvSpPr>
          <p:cNvPr id="6" name="Shape 4"/>
          <p:cNvSpPr/>
          <p:nvPr/>
        </p:nvSpPr>
        <p:spPr>
          <a:xfrm>
            <a:off x="749808" y="2724912"/>
            <a:ext cx="4663440" cy="0"/>
          </a:xfrm>
          <a:prstGeom prst="line">
            <a:avLst/>
          </a:prstGeom>
          <a:noFill/>
          <a:ln w="12700">
            <a:solidFill>
              <a:srgbClr val="3E6FA0"/>
            </a:solidFill>
            <a:prstDash val="solid"/>
          </a:ln>
        </p:spPr>
      </p:sp>
      <p:sp>
        <p:nvSpPr>
          <p:cNvPr id="7" name="Text 5"/>
          <p:cNvSpPr txBox="1"/>
          <p:nvPr/>
        </p:nvSpPr>
        <p:spPr>
          <a:xfrm>
            <a:off x="749808" y="2880360"/>
            <a:ext cx="4663440" cy="292608"/>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Input</a:t>
            </a:r>
            <a:endParaRPr lang="en-US" sz="1500" dirty="0"/>
          </a:p>
        </p:txBody>
      </p:sp>
      <p:sp>
        <p:nvSpPr>
          <p:cNvPr id="8" name="Text 6"/>
          <p:cNvSpPr txBox="1"/>
          <p:nvPr/>
        </p:nvSpPr>
        <p:spPr>
          <a:xfrm>
            <a:off x="749808" y="3218688"/>
            <a:ext cx="4663440" cy="548640"/>
          </a:xfrm>
          <a:prstGeom prst="rect">
            <a:avLst/>
          </a:prstGeom>
          <a:noFill/>
          <a:ln/>
        </p:spPr>
        <p:txBody>
          <a:bodyPr wrap="square" lIns="0" tIns="0" rIns="0" bIns="0" rtlCol="0" anchor="ctr"/>
          <a:lstStyle/>
          <a:p>
            <a:pPr algn="l" indent="0" marL="0">
              <a:lnSpc>
                <a:spcPct val="115000"/>
              </a:lnSpc>
              <a:buNone/>
            </a:pPr>
            <a:r>
              <a:rPr lang="en-US" sz="1150" dirty="0">
                <a:solidFill>
                  <a:srgbClr val="FFFFFF"/>
                </a:solidFill>
                <a:latin typeface="Arial" pitchFamily="34" charset="0"/>
                <a:ea typeface="Arial" pitchFamily="34" charset="-122"/>
                <a:cs typeface="Arial" pitchFamily="34" charset="-120"/>
              </a:rPr>
              <a:t>24 process parameters extracted from SECOM dataset feature vectors, pre-processed and aligned to the trained classifier's expected feature schema</a:t>
            </a:r>
            <a:endParaRPr lang="en-US" sz="1150" dirty="0"/>
          </a:p>
        </p:txBody>
      </p:sp>
      <p:sp>
        <p:nvSpPr>
          <p:cNvPr id="9" name="Shape 7"/>
          <p:cNvSpPr/>
          <p:nvPr/>
        </p:nvSpPr>
        <p:spPr>
          <a:xfrm>
            <a:off x="749808" y="3886200"/>
            <a:ext cx="4663440" cy="0"/>
          </a:xfrm>
          <a:prstGeom prst="line">
            <a:avLst/>
          </a:prstGeom>
          <a:noFill/>
          <a:ln w="12700">
            <a:solidFill>
              <a:srgbClr val="3E6FA0"/>
            </a:solidFill>
            <a:prstDash val="solid"/>
          </a:ln>
        </p:spPr>
      </p:sp>
      <p:sp>
        <p:nvSpPr>
          <p:cNvPr id="10" name="Text 8"/>
          <p:cNvSpPr txBox="1"/>
          <p:nvPr/>
        </p:nvSpPr>
        <p:spPr>
          <a:xfrm>
            <a:off x="749808" y="4041648"/>
            <a:ext cx="4663440" cy="292608"/>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Illustrative Output</a:t>
            </a:r>
            <a:endParaRPr lang="en-US" sz="1500" dirty="0"/>
          </a:p>
        </p:txBody>
      </p:sp>
      <p:sp>
        <p:nvSpPr>
          <p:cNvPr id="11" name="Text 9"/>
          <p:cNvSpPr txBox="1"/>
          <p:nvPr/>
        </p:nvSpPr>
        <p:spPr>
          <a:xfrm>
            <a:off x="749808" y="4389120"/>
            <a:ext cx="4663440" cy="292608"/>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Prediction = "FAIL" · Failure Probability: </a:t>
            </a:r>
            <a:pPr indent="0" marL="0">
              <a:buNone/>
            </a:pPr>
            <a:r>
              <a:rPr lang="en-US" sz="1300" b="1" dirty="0">
                <a:solidFill>
                  <a:srgbClr val="FFFFFF"/>
                </a:solidFill>
                <a:latin typeface="Arial" pitchFamily="34" charset="0"/>
                <a:ea typeface="Arial" pitchFamily="34" charset="-122"/>
                <a:cs typeface="Arial" pitchFamily="34" charset="-120"/>
              </a:rPr>
              <a:t>0.68</a:t>
            </a:r>
            <a:endParaRPr lang="en-US" sz="1300" dirty="0"/>
          </a:p>
        </p:txBody>
      </p:sp>
      <p:sp>
        <p:nvSpPr>
          <p:cNvPr id="12" name="Text 10"/>
          <p:cNvSpPr txBox="1"/>
          <p:nvPr/>
        </p:nvSpPr>
        <p:spPr>
          <a:xfrm>
            <a:off x="749808" y="4709160"/>
            <a:ext cx="4663440" cy="365760"/>
          </a:xfrm>
          <a:prstGeom prst="rect">
            <a:avLst/>
          </a:prstGeom>
          <a:noFill/>
          <a:ln/>
        </p:spPr>
        <p:txBody>
          <a:bodyPr wrap="square" lIns="0" tIns="0" rIns="0" bIns="0" rtlCol="0" anchor="ctr"/>
          <a:lstStyle/>
          <a:p>
            <a:pPr indent="0" marL="0">
              <a:buNone/>
            </a:pPr>
            <a:r>
              <a:rPr lang="en-US" sz="1050" i="1" dirty="0">
                <a:solidFill>
                  <a:srgbClr val="B9C4D6"/>
                </a:solidFill>
                <a:latin typeface="Arial" pitchFamily="34" charset="0"/>
                <a:ea typeface="Arial" pitchFamily="34" charset="-122"/>
                <a:cs typeface="Arial" pitchFamily="34" charset="-120"/>
              </a:rPr>
              <a:t>Actual inference values depend on the submitted process parameter vector.</a:t>
            </a:r>
            <a:endParaRPr lang="en-US" sz="1050" dirty="0"/>
          </a:p>
        </p:txBody>
      </p:sp>
      <p:sp>
        <p:nvSpPr>
          <p:cNvPr id="13" name="Text 11"/>
          <p:cNvSpPr txBox="1"/>
          <p:nvPr/>
        </p:nvSpPr>
        <p:spPr>
          <a:xfrm>
            <a:off x="6126480" y="1188720"/>
            <a:ext cx="553212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Inference Process</a:t>
            </a:r>
            <a:endParaRPr lang="en-US" sz="1500" dirty="0"/>
          </a:p>
        </p:txBody>
      </p:sp>
      <p:sp>
        <p:nvSpPr>
          <p:cNvPr id="14" name="Text 12"/>
          <p:cNvSpPr txBox="1"/>
          <p:nvPr/>
        </p:nvSpPr>
        <p:spPr>
          <a:xfrm>
            <a:off x="6126480" y="1536192"/>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01</a:t>
            </a:r>
            <a:endParaRPr lang="en-US" sz="1100" dirty="0"/>
          </a:p>
        </p:txBody>
      </p:sp>
      <p:pic>
        <p:nvPicPr>
          <p:cNvPr id="15" name="Image 0" descr="grad_horiz.png">    </p:cNvPr>
          <p:cNvPicPr>
            <a:picLocks noChangeAspect="1"/>
          </p:cNvPicPr>
          <p:nvPr/>
        </p:nvPicPr>
        <p:blipFill>
          <a:blip r:embed="rId1"/>
          <a:stretch>
            <a:fillRect/>
          </a:stretch>
        </p:blipFill>
        <p:spPr>
          <a:xfrm>
            <a:off x="6126480" y="1755648"/>
            <a:ext cx="5532120" cy="27432"/>
          </a:xfrm>
          <a:prstGeom prst="rect">
            <a:avLst/>
          </a:prstGeom>
        </p:spPr>
      </p:pic>
      <p:sp>
        <p:nvSpPr>
          <p:cNvPr id="16" name="Text 13"/>
          <p:cNvSpPr txBox="1"/>
          <p:nvPr/>
        </p:nvSpPr>
        <p:spPr>
          <a:xfrm>
            <a:off x="6126480" y="1810512"/>
            <a:ext cx="553212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Feature Extraction</a:t>
            </a:r>
            <a:endParaRPr lang="en-US" sz="1350" dirty="0"/>
          </a:p>
        </p:txBody>
      </p:sp>
      <p:sp>
        <p:nvSpPr>
          <p:cNvPr id="17" name="Text 14"/>
          <p:cNvSpPr txBox="1"/>
          <p:nvPr/>
        </p:nvSpPr>
        <p:spPr>
          <a:xfrm>
            <a:off x="6126480" y="2066544"/>
            <a:ext cx="553212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24-dimensional process feature vector extracted from the submitted CSV or structured process parameter record</a:t>
            </a:r>
            <a:endParaRPr lang="en-US" sz="1050" dirty="0"/>
          </a:p>
        </p:txBody>
      </p:sp>
      <p:sp>
        <p:nvSpPr>
          <p:cNvPr id="18" name="Text 15"/>
          <p:cNvSpPr txBox="1"/>
          <p:nvPr/>
        </p:nvSpPr>
        <p:spPr>
          <a:xfrm>
            <a:off x="6126480" y="2523744"/>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02</a:t>
            </a:r>
            <a:endParaRPr lang="en-US" sz="1100" dirty="0"/>
          </a:p>
        </p:txBody>
      </p:sp>
      <p:pic>
        <p:nvPicPr>
          <p:cNvPr id="19" name="Image 1" descr="grad_horiz.png">    </p:cNvPr>
          <p:cNvPicPr>
            <a:picLocks noChangeAspect="1"/>
          </p:cNvPicPr>
          <p:nvPr/>
        </p:nvPicPr>
        <p:blipFill>
          <a:blip r:embed="rId2"/>
          <a:stretch>
            <a:fillRect/>
          </a:stretch>
        </p:blipFill>
        <p:spPr>
          <a:xfrm>
            <a:off x="6126480" y="2743200"/>
            <a:ext cx="5532120" cy="27432"/>
          </a:xfrm>
          <a:prstGeom prst="rect">
            <a:avLst/>
          </a:prstGeom>
        </p:spPr>
      </p:pic>
      <p:sp>
        <p:nvSpPr>
          <p:cNvPr id="20" name="Text 16"/>
          <p:cNvSpPr txBox="1"/>
          <p:nvPr/>
        </p:nvSpPr>
        <p:spPr>
          <a:xfrm>
            <a:off x="6126480" y="2798064"/>
            <a:ext cx="553212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Ensemble Inference</a:t>
            </a:r>
            <a:endParaRPr lang="en-US" sz="1350" dirty="0"/>
          </a:p>
        </p:txBody>
      </p:sp>
      <p:sp>
        <p:nvSpPr>
          <p:cNvPr id="21" name="Text 17"/>
          <p:cNvSpPr txBox="1"/>
          <p:nvPr/>
        </p:nvSpPr>
        <p:spPr>
          <a:xfrm>
            <a:off x="6126480" y="3054096"/>
            <a:ext cx="553212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Feature vector passed through the XGBoost VotingClassifier ensemble — soft-voting aggregates estimator outputs</a:t>
            </a:r>
            <a:endParaRPr lang="en-US" sz="1050" dirty="0"/>
          </a:p>
        </p:txBody>
      </p:sp>
      <p:sp>
        <p:nvSpPr>
          <p:cNvPr id="22" name="Text 18"/>
          <p:cNvSpPr txBox="1"/>
          <p:nvPr/>
        </p:nvSpPr>
        <p:spPr>
          <a:xfrm>
            <a:off x="6126480" y="3511296"/>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03</a:t>
            </a:r>
            <a:endParaRPr lang="en-US" sz="1100" dirty="0"/>
          </a:p>
        </p:txBody>
      </p:sp>
      <p:pic>
        <p:nvPicPr>
          <p:cNvPr id="23" name="Image 2" descr="grad_horiz.png">    </p:cNvPr>
          <p:cNvPicPr>
            <a:picLocks noChangeAspect="1"/>
          </p:cNvPicPr>
          <p:nvPr/>
        </p:nvPicPr>
        <p:blipFill>
          <a:blip r:embed="rId3"/>
          <a:stretch>
            <a:fillRect/>
          </a:stretch>
        </p:blipFill>
        <p:spPr>
          <a:xfrm>
            <a:off x="6126480" y="3730752"/>
            <a:ext cx="5532120" cy="27432"/>
          </a:xfrm>
          <a:prstGeom prst="rect">
            <a:avLst/>
          </a:prstGeom>
        </p:spPr>
      </p:pic>
      <p:sp>
        <p:nvSpPr>
          <p:cNvPr id="24" name="Text 19"/>
          <p:cNvSpPr txBox="1"/>
          <p:nvPr/>
        </p:nvSpPr>
        <p:spPr>
          <a:xfrm>
            <a:off x="6126480" y="3785616"/>
            <a:ext cx="553212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Probability Estimation</a:t>
            </a:r>
            <a:endParaRPr lang="en-US" sz="1350" dirty="0"/>
          </a:p>
        </p:txBody>
      </p:sp>
      <p:sp>
        <p:nvSpPr>
          <p:cNvPr id="25" name="Text 20"/>
          <p:cNvSpPr txBox="1"/>
          <p:nvPr/>
        </p:nvSpPr>
        <p:spPr>
          <a:xfrm>
            <a:off x="6126480" y="4041648"/>
            <a:ext cx="553212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Classifier returns calibrated failure probability alongside the binary PASS/FAIL label</a:t>
            </a:r>
            <a:endParaRPr lang="en-US" sz="1050" dirty="0"/>
          </a:p>
        </p:txBody>
      </p:sp>
      <p:sp>
        <p:nvSpPr>
          <p:cNvPr id="26" name="Text 21"/>
          <p:cNvSpPr txBox="1"/>
          <p:nvPr/>
        </p:nvSpPr>
        <p:spPr>
          <a:xfrm>
            <a:off x="6126480" y="449884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04</a:t>
            </a:r>
            <a:endParaRPr lang="en-US" sz="1100" dirty="0"/>
          </a:p>
        </p:txBody>
      </p:sp>
      <p:pic>
        <p:nvPicPr>
          <p:cNvPr id="27" name="Image 3" descr="grad_horiz.png">    </p:cNvPr>
          <p:cNvPicPr>
            <a:picLocks noChangeAspect="1"/>
          </p:cNvPicPr>
          <p:nvPr/>
        </p:nvPicPr>
        <p:blipFill>
          <a:blip r:embed="rId4"/>
          <a:stretch>
            <a:fillRect/>
          </a:stretch>
        </p:blipFill>
        <p:spPr>
          <a:xfrm>
            <a:off x="6126480" y="4718304"/>
            <a:ext cx="5532120" cy="27432"/>
          </a:xfrm>
          <a:prstGeom prst="rect">
            <a:avLst/>
          </a:prstGeom>
        </p:spPr>
      </p:pic>
      <p:sp>
        <p:nvSpPr>
          <p:cNvPr id="28" name="Text 22"/>
          <p:cNvSpPr txBox="1"/>
          <p:nvPr/>
        </p:nvSpPr>
        <p:spPr>
          <a:xfrm>
            <a:off x="6126480" y="4773168"/>
            <a:ext cx="553212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Risk Threshold Application</a:t>
            </a:r>
            <a:endParaRPr lang="en-US" sz="1350" dirty="0"/>
          </a:p>
        </p:txBody>
      </p:sp>
      <p:sp>
        <p:nvSpPr>
          <p:cNvPr id="29" name="Text 23"/>
          <p:cNvSpPr txBox="1"/>
          <p:nvPr/>
        </p:nvSpPr>
        <p:spPr>
          <a:xfrm>
            <a:off x="6126480" y="5029200"/>
            <a:ext cx="553212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Probability value compared against configured thresholds to assign risk tier (HIGH / MEDIUM / LOW)</a:t>
            </a:r>
            <a:endParaRPr lang="en-US" sz="1050" dirty="0"/>
          </a:p>
        </p:txBody>
      </p:sp>
      <p:sp>
        <p:nvSpPr>
          <p:cNvPr id="30" name="Text 24"/>
          <p:cNvSpPr txBox="1"/>
          <p:nvPr/>
        </p:nvSpPr>
        <p:spPr>
          <a:xfrm>
            <a:off x="6126480" y="5504688"/>
            <a:ext cx="5532120" cy="320040"/>
          </a:xfrm>
          <a:prstGeom prst="rect">
            <a:avLst/>
          </a:prstGeom>
          <a:noFill/>
          <a:ln/>
        </p:spPr>
        <p:txBody>
          <a:bodyPr wrap="square" lIns="0" tIns="0" rIns="0" bIns="0" rtlCol="0" anchor="ctr"/>
          <a:lstStyle/>
          <a:p>
            <a:pPr indent="0" marL="0">
              <a:buNone/>
            </a:pPr>
            <a:r>
              <a:rPr lang="en-US" sz="1350" b="1" dirty="0">
                <a:solidFill>
                  <a:srgbClr val="D98CC0"/>
                </a:solidFill>
                <a:latin typeface="Arial" pitchFamily="34" charset="0"/>
                <a:ea typeface="Arial" pitchFamily="34" charset="-122"/>
                <a:cs typeface="Arial" pitchFamily="34" charset="-120"/>
              </a:rPr>
              <a:t>Outputs Passed Downstream</a:t>
            </a:r>
            <a:endParaRPr lang="en-US" sz="1350" dirty="0"/>
          </a:p>
        </p:txBody>
      </p:sp>
      <p:sp>
        <p:nvSpPr>
          <p:cNvPr id="31" name="Shape 25"/>
          <p:cNvSpPr/>
          <p:nvPr/>
        </p:nvSpPr>
        <p:spPr>
          <a:xfrm>
            <a:off x="6126480" y="5760720"/>
            <a:ext cx="2697480" cy="530352"/>
          </a:xfrm>
          <a:prstGeom prst="rect">
            <a:avLst/>
          </a:prstGeom>
          <a:solidFill>
            <a:srgbClr val="252733"/>
          </a:solidFill>
          <a:ln w="12700">
            <a:solidFill>
              <a:srgbClr val="5C5E70"/>
            </a:solidFill>
            <a:prstDash val="solid"/>
          </a:ln>
        </p:spPr>
      </p:sp>
      <p:sp>
        <p:nvSpPr>
          <p:cNvPr id="32" name="Text 26"/>
          <p:cNvSpPr txBox="1"/>
          <p:nvPr/>
        </p:nvSpPr>
        <p:spPr>
          <a:xfrm>
            <a:off x="6309360" y="5843016"/>
            <a:ext cx="2331720" cy="237744"/>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PASS / FAIL Label</a:t>
            </a:r>
            <a:endParaRPr lang="en-US" sz="1300" dirty="0"/>
          </a:p>
        </p:txBody>
      </p:sp>
      <p:sp>
        <p:nvSpPr>
          <p:cNvPr id="33" name="Text 27"/>
          <p:cNvSpPr txBox="1"/>
          <p:nvPr/>
        </p:nvSpPr>
        <p:spPr>
          <a:xfrm>
            <a:off x="6309360" y="6062472"/>
            <a:ext cx="2331720" cy="182880"/>
          </a:xfrm>
          <a:prstGeom prst="rect">
            <a:avLst/>
          </a:prstGeom>
          <a:noFill/>
          <a:ln/>
        </p:spPr>
        <p:txBody>
          <a:bodyPr wrap="square" lIns="0" tIns="0" rIns="0" bIns="0" rtlCol="0" anchor="ctr"/>
          <a:lstStyle/>
          <a:p>
            <a:pPr indent="0" marL="0">
              <a:lnSpc>
                <a:spcPct val="105000"/>
              </a:lnSpc>
              <a:buNone/>
            </a:pPr>
            <a:r>
              <a:rPr lang="en-US" sz="1000" dirty="0">
                <a:solidFill>
                  <a:srgbClr val="D6D7E0"/>
                </a:solidFill>
                <a:latin typeface="Arial" pitchFamily="34" charset="0"/>
                <a:ea typeface="Arial" pitchFamily="34" charset="-122"/>
                <a:cs typeface="Arial" pitchFamily="34" charset="-120"/>
              </a:rPr>
              <a:t>Binary classification result</a:t>
            </a:r>
            <a:endParaRPr lang="en-US" sz="1000" dirty="0"/>
          </a:p>
        </p:txBody>
      </p:sp>
      <p:sp>
        <p:nvSpPr>
          <p:cNvPr id="34" name="Shape 28"/>
          <p:cNvSpPr/>
          <p:nvPr/>
        </p:nvSpPr>
        <p:spPr>
          <a:xfrm>
            <a:off x="8961120" y="5760720"/>
            <a:ext cx="2697480" cy="530352"/>
          </a:xfrm>
          <a:prstGeom prst="rect">
            <a:avLst/>
          </a:prstGeom>
          <a:solidFill>
            <a:srgbClr val="252733"/>
          </a:solidFill>
          <a:ln w="12700">
            <a:solidFill>
              <a:srgbClr val="5C5E70"/>
            </a:solidFill>
            <a:prstDash val="solid"/>
          </a:ln>
        </p:spPr>
      </p:sp>
      <p:sp>
        <p:nvSpPr>
          <p:cNvPr id="35" name="Text 29"/>
          <p:cNvSpPr txBox="1"/>
          <p:nvPr/>
        </p:nvSpPr>
        <p:spPr>
          <a:xfrm>
            <a:off x="9144000" y="5843016"/>
            <a:ext cx="2331720" cy="237744"/>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Failure Probability</a:t>
            </a:r>
            <a:endParaRPr lang="en-US" sz="1300" dirty="0"/>
          </a:p>
        </p:txBody>
      </p:sp>
      <p:sp>
        <p:nvSpPr>
          <p:cNvPr id="36" name="Text 30"/>
          <p:cNvSpPr txBox="1"/>
          <p:nvPr/>
        </p:nvSpPr>
        <p:spPr>
          <a:xfrm>
            <a:off x="9144000" y="6062472"/>
            <a:ext cx="2331720" cy="182880"/>
          </a:xfrm>
          <a:prstGeom prst="rect">
            <a:avLst/>
          </a:prstGeom>
          <a:noFill/>
          <a:ln/>
        </p:spPr>
        <p:txBody>
          <a:bodyPr wrap="square" lIns="0" tIns="0" rIns="0" bIns="0" rtlCol="0" anchor="ctr"/>
          <a:lstStyle/>
          <a:p>
            <a:pPr indent="0" marL="0">
              <a:lnSpc>
                <a:spcPct val="105000"/>
              </a:lnSpc>
              <a:buNone/>
            </a:pPr>
            <a:r>
              <a:rPr lang="en-US" sz="1000" dirty="0">
                <a:solidFill>
                  <a:srgbClr val="D6D7E0"/>
                </a:solidFill>
                <a:latin typeface="Arial" pitchFamily="34" charset="0"/>
                <a:ea typeface="Arial" pitchFamily="34" charset="-122"/>
                <a:cs typeface="Arial" pitchFamily="34" charset="-120"/>
              </a:rPr>
              <a:t>Calibrated probability score [0–1]</a:t>
            </a:r>
            <a:endParaRPr lang="en-US" sz="1000" dirty="0"/>
          </a:p>
        </p:txBody>
      </p:sp>
      <p:sp>
        <p:nvSpPr>
          <p:cNvPr id="37" name="Shape 31"/>
          <p:cNvSpPr/>
          <p:nvPr/>
        </p:nvSpPr>
        <p:spPr>
          <a:xfrm>
            <a:off x="6126480" y="6355080"/>
            <a:ext cx="5532120" cy="457200"/>
          </a:xfrm>
          <a:prstGeom prst="rect">
            <a:avLst/>
          </a:prstGeom>
          <a:solidFill>
            <a:srgbClr val="252733"/>
          </a:solidFill>
          <a:ln w="12700">
            <a:solidFill>
              <a:srgbClr val="5C5E70"/>
            </a:solidFill>
            <a:prstDash val="solid"/>
          </a:ln>
        </p:spPr>
      </p:sp>
      <p:sp>
        <p:nvSpPr>
          <p:cNvPr id="38" name="Text 32"/>
          <p:cNvSpPr txBox="1"/>
          <p:nvPr/>
        </p:nvSpPr>
        <p:spPr>
          <a:xfrm>
            <a:off x="6309360" y="6437376"/>
            <a:ext cx="5166360" cy="237744"/>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Feature Vector</a:t>
            </a:r>
            <a:endParaRPr lang="en-US" sz="1300" dirty="0"/>
          </a:p>
        </p:txBody>
      </p:sp>
      <p:sp>
        <p:nvSpPr>
          <p:cNvPr id="39" name="Text 33"/>
          <p:cNvSpPr txBox="1"/>
          <p:nvPr/>
        </p:nvSpPr>
        <p:spPr>
          <a:xfrm>
            <a:off x="6309360" y="6656832"/>
            <a:ext cx="5166360" cy="182880"/>
          </a:xfrm>
          <a:prstGeom prst="rect">
            <a:avLst/>
          </a:prstGeom>
          <a:noFill/>
          <a:ln/>
        </p:spPr>
        <p:txBody>
          <a:bodyPr wrap="square" lIns="0" tIns="0" rIns="0" bIns="0" rtlCol="0" anchor="ctr"/>
          <a:lstStyle/>
          <a:p>
            <a:pPr indent="0" marL="0">
              <a:lnSpc>
                <a:spcPct val="105000"/>
              </a:lnSpc>
              <a:buNone/>
            </a:pPr>
            <a:r>
              <a:rPr lang="en-US" sz="1000" dirty="0">
                <a:solidFill>
                  <a:srgbClr val="D6D7E0"/>
                </a:solidFill>
                <a:latin typeface="Arial" pitchFamily="34" charset="0"/>
                <a:ea typeface="Arial" pitchFamily="34" charset="-122"/>
                <a:cs typeface="Arial" pitchFamily="34" charset="-120"/>
              </a:rPr>
              <a:t>Passed to SHAP for Phase 3 explanation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11480"/>
            <a:ext cx="11155680" cy="594360"/>
          </a:xfrm>
          <a:prstGeom prst="rect">
            <a:avLst/>
          </a:prstGeom>
          <a:noFill/>
          <a:ln/>
        </p:spPr>
        <p:txBody>
          <a:bodyPr wrap="square" lIns="0" tIns="0" rIns="0" bIns="0" rtlCol="0" anchor="ctr"/>
          <a:lstStyle/>
          <a:p>
            <a:pPr indent="0" marL="0">
              <a:buNone/>
            </a:pPr>
            <a:r>
              <a:rPr lang="en-US" sz="3000" dirty="0">
                <a:solidFill>
                  <a:srgbClr val="1EA0C4"/>
                </a:solidFill>
                <a:latin typeface="Georgia" pitchFamily="34" charset="0"/>
                <a:ea typeface="Georgia" pitchFamily="34" charset="-122"/>
                <a:cs typeface="Georgia" pitchFamily="34" charset="-120"/>
              </a:rPr>
              <a:t>EXPLAIN </a:t>
            </a:r>
            <a:pPr indent="0" marL="0">
              <a:buNone/>
            </a:pPr>
            <a:r>
              <a:rPr lang="en-US" sz="3000" dirty="0">
                <a:solidFill>
                  <a:srgbClr val="F589C9"/>
                </a:solidFill>
                <a:latin typeface="Georgia" pitchFamily="34" charset="0"/>
                <a:ea typeface="Georgia" pitchFamily="34" charset="-122"/>
                <a:cs typeface="Georgia" pitchFamily="34" charset="-120"/>
              </a:rPr>
              <a:t>— Phase 3: Root Cause Analysis via SHAP</a:t>
            </a:r>
            <a:endParaRPr lang="en-US" sz="3000" dirty="0"/>
          </a:p>
        </p:txBody>
      </p:sp>
      <p:sp>
        <p:nvSpPr>
          <p:cNvPr id="3" name="Text 1"/>
          <p:cNvSpPr txBox="1"/>
          <p:nvPr/>
        </p:nvSpPr>
        <p:spPr>
          <a:xfrm>
            <a:off x="521208" y="1051560"/>
            <a:ext cx="11155680" cy="502920"/>
          </a:xfrm>
          <a:prstGeom prst="rect">
            <a:avLst/>
          </a:prstGeom>
          <a:noFill/>
          <a:ln/>
        </p:spPr>
        <p:txBody>
          <a:bodyPr wrap="square" lIns="0" tIns="0" rIns="0" bIns="0" rtlCol="0" anchor="ctr"/>
          <a:lstStyle/>
          <a:p>
            <a:pPr algn="l" indent="0" marL="0">
              <a:lnSpc>
                <a:spcPct val="115000"/>
              </a:lnSpc>
              <a:buNone/>
            </a:pPr>
            <a:r>
              <a:rPr lang="en-US" sz="1300" dirty="0">
                <a:solidFill>
                  <a:srgbClr val="D6D7E0"/>
                </a:solidFill>
                <a:latin typeface="Arial" pitchFamily="34" charset="0"/>
                <a:ea typeface="Arial" pitchFamily="34" charset="-122"/>
                <a:cs typeface="Arial" pitchFamily="34" charset="-120"/>
              </a:rPr>
              <a:t>SHAP (SHapley Additive exPlanations) decomposes the SECOM model's risk prediction into per-feature contributions, revealing exactly which process parameters most influenced the PASS/FAIL outcome — and in which direction.</a:t>
            </a:r>
            <a:endParaRPr lang="en-US" sz="1300" dirty="0"/>
          </a:p>
        </p:txBody>
      </p:sp>
      <p:sp>
        <p:nvSpPr>
          <p:cNvPr id="4" name="Text 2"/>
          <p:cNvSpPr txBox="1"/>
          <p:nvPr/>
        </p:nvSpPr>
        <p:spPr>
          <a:xfrm>
            <a:off x="521208" y="1691640"/>
            <a:ext cx="525780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SHAP Computation Process</a:t>
            </a:r>
            <a:endParaRPr lang="en-US" sz="1500" dirty="0"/>
          </a:p>
        </p:txBody>
      </p:sp>
      <p:sp>
        <p:nvSpPr>
          <p:cNvPr id="5" name="Text 3"/>
          <p:cNvSpPr txBox="1"/>
          <p:nvPr/>
        </p:nvSpPr>
        <p:spPr>
          <a:xfrm>
            <a:off x="521208" y="202996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01</a:t>
            </a:r>
            <a:endParaRPr lang="en-US" sz="1100" dirty="0"/>
          </a:p>
        </p:txBody>
      </p:sp>
      <p:pic>
        <p:nvPicPr>
          <p:cNvPr id="6" name="Image 0" descr="grad_horiz.png">    </p:cNvPr>
          <p:cNvPicPr>
            <a:picLocks noChangeAspect="1"/>
          </p:cNvPicPr>
          <p:nvPr/>
        </p:nvPicPr>
        <p:blipFill>
          <a:blip r:embed="rId1"/>
          <a:stretch>
            <a:fillRect/>
          </a:stretch>
        </p:blipFill>
        <p:spPr>
          <a:xfrm>
            <a:off x="521208" y="2249424"/>
            <a:ext cx="5257800" cy="27432"/>
          </a:xfrm>
          <a:prstGeom prst="rect">
            <a:avLst/>
          </a:prstGeom>
        </p:spPr>
      </p:pic>
      <p:sp>
        <p:nvSpPr>
          <p:cNvPr id="7" name="Text 4"/>
          <p:cNvSpPr txBox="1"/>
          <p:nvPr/>
        </p:nvSpPr>
        <p:spPr>
          <a:xfrm>
            <a:off x="521208" y="230428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Explainer Selection</a:t>
            </a:r>
            <a:endParaRPr lang="en-US" sz="1350" dirty="0"/>
          </a:p>
        </p:txBody>
      </p:sp>
      <p:sp>
        <p:nvSpPr>
          <p:cNvPr id="8" name="Text 5"/>
          <p:cNvSpPr txBox="1"/>
          <p:nvPr/>
        </p:nvSpPr>
        <p:spPr>
          <a:xfrm>
            <a:off x="521208" y="256032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TreeExplainer is used when available (optimized for tree-based models). KernelExplainer is applied as a model-agnostic fallback.</a:t>
            </a:r>
            <a:endParaRPr lang="en-US" sz="1050" dirty="0"/>
          </a:p>
        </p:txBody>
      </p:sp>
      <p:sp>
        <p:nvSpPr>
          <p:cNvPr id="9" name="Text 6"/>
          <p:cNvSpPr txBox="1"/>
          <p:nvPr/>
        </p:nvSpPr>
        <p:spPr>
          <a:xfrm>
            <a:off x="521208" y="299008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02</a:t>
            </a:r>
            <a:endParaRPr lang="en-US" sz="1100" dirty="0"/>
          </a:p>
        </p:txBody>
      </p:sp>
      <p:pic>
        <p:nvPicPr>
          <p:cNvPr id="10" name="Image 1" descr="grad_horiz.png">    </p:cNvPr>
          <p:cNvPicPr>
            <a:picLocks noChangeAspect="1"/>
          </p:cNvPicPr>
          <p:nvPr/>
        </p:nvPicPr>
        <p:blipFill>
          <a:blip r:embed="rId2"/>
          <a:stretch>
            <a:fillRect/>
          </a:stretch>
        </p:blipFill>
        <p:spPr>
          <a:xfrm>
            <a:off x="521208" y="3209544"/>
            <a:ext cx="5257800" cy="27432"/>
          </a:xfrm>
          <a:prstGeom prst="rect">
            <a:avLst/>
          </a:prstGeom>
        </p:spPr>
      </p:pic>
      <p:sp>
        <p:nvSpPr>
          <p:cNvPr id="11" name="Text 7"/>
          <p:cNvSpPr txBox="1"/>
          <p:nvPr/>
        </p:nvSpPr>
        <p:spPr>
          <a:xfrm>
            <a:off x="521208" y="326440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SHAP Value Computation</a:t>
            </a:r>
            <a:endParaRPr lang="en-US" sz="1350" dirty="0"/>
          </a:p>
        </p:txBody>
      </p:sp>
      <p:sp>
        <p:nvSpPr>
          <p:cNvPr id="12" name="Text 8"/>
          <p:cNvSpPr txBox="1"/>
          <p:nvPr/>
        </p:nvSpPr>
        <p:spPr>
          <a:xfrm>
            <a:off x="521208" y="352044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Feature contribution values computed for the specific process parameter vector submitted, relative to the model's base rate</a:t>
            </a:r>
            <a:endParaRPr lang="en-US" sz="1050" dirty="0"/>
          </a:p>
        </p:txBody>
      </p:sp>
      <p:sp>
        <p:nvSpPr>
          <p:cNvPr id="13" name="Text 9"/>
          <p:cNvSpPr txBox="1"/>
          <p:nvPr/>
        </p:nvSpPr>
        <p:spPr>
          <a:xfrm>
            <a:off x="521208" y="395020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03</a:t>
            </a:r>
            <a:endParaRPr lang="en-US" sz="1100" dirty="0"/>
          </a:p>
        </p:txBody>
      </p:sp>
      <p:pic>
        <p:nvPicPr>
          <p:cNvPr id="14" name="Image 2" descr="grad_horiz.png">    </p:cNvPr>
          <p:cNvPicPr>
            <a:picLocks noChangeAspect="1"/>
          </p:cNvPicPr>
          <p:nvPr/>
        </p:nvPicPr>
        <p:blipFill>
          <a:blip r:embed="rId3"/>
          <a:stretch>
            <a:fillRect/>
          </a:stretch>
        </p:blipFill>
        <p:spPr>
          <a:xfrm>
            <a:off x="521208" y="4169664"/>
            <a:ext cx="5257800" cy="27432"/>
          </a:xfrm>
          <a:prstGeom prst="rect">
            <a:avLst/>
          </a:prstGeom>
        </p:spPr>
      </p:pic>
      <p:sp>
        <p:nvSpPr>
          <p:cNvPr id="15" name="Text 10"/>
          <p:cNvSpPr txBox="1"/>
          <p:nvPr/>
        </p:nvSpPr>
        <p:spPr>
          <a:xfrm>
            <a:off x="521208" y="422452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Ranking by Magnitude</a:t>
            </a:r>
            <a:endParaRPr lang="en-US" sz="1350" dirty="0"/>
          </a:p>
        </p:txBody>
      </p:sp>
      <p:sp>
        <p:nvSpPr>
          <p:cNvPr id="16" name="Text 11"/>
          <p:cNvSpPr txBox="1"/>
          <p:nvPr/>
        </p:nvSpPr>
        <p:spPr>
          <a:xfrm>
            <a:off x="521208" y="448056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Features ranked by absolute SHAP value — highest magnitude features are the strongest drivers of the prediction</a:t>
            </a:r>
            <a:endParaRPr lang="en-US" sz="1050" dirty="0"/>
          </a:p>
        </p:txBody>
      </p:sp>
      <p:sp>
        <p:nvSpPr>
          <p:cNvPr id="17" name="Text 12"/>
          <p:cNvSpPr txBox="1"/>
          <p:nvPr/>
        </p:nvSpPr>
        <p:spPr>
          <a:xfrm>
            <a:off x="521208" y="491032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04</a:t>
            </a:r>
            <a:endParaRPr lang="en-US" sz="1100" dirty="0"/>
          </a:p>
        </p:txBody>
      </p:sp>
      <p:pic>
        <p:nvPicPr>
          <p:cNvPr id="18" name="Image 3" descr="grad_horiz.png">    </p:cNvPr>
          <p:cNvPicPr>
            <a:picLocks noChangeAspect="1"/>
          </p:cNvPicPr>
          <p:nvPr/>
        </p:nvPicPr>
        <p:blipFill>
          <a:blip r:embed="rId4"/>
          <a:stretch>
            <a:fillRect/>
          </a:stretch>
        </p:blipFill>
        <p:spPr>
          <a:xfrm>
            <a:off x="521208" y="5129784"/>
            <a:ext cx="5257800" cy="27432"/>
          </a:xfrm>
          <a:prstGeom prst="rect">
            <a:avLst/>
          </a:prstGeom>
        </p:spPr>
      </p:pic>
      <p:sp>
        <p:nvSpPr>
          <p:cNvPr id="19" name="Text 13"/>
          <p:cNvSpPr txBox="1"/>
          <p:nvPr/>
        </p:nvSpPr>
        <p:spPr>
          <a:xfrm>
            <a:off x="521208" y="518464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Directional Classification</a:t>
            </a:r>
            <a:endParaRPr lang="en-US" sz="1350" dirty="0"/>
          </a:p>
        </p:txBody>
      </p:sp>
      <p:sp>
        <p:nvSpPr>
          <p:cNvPr id="20" name="Text 14"/>
          <p:cNvSpPr txBox="1"/>
          <p:nvPr/>
        </p:nvSpPr>
        <p:spPr>
          <a:xfrm>
            <a:off x="521208" y="544068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Each feature tagged as positive (increases predicted risk) or negative (decreases predicted risk)</a:t>
            </a:r>
            <a:endParaRPr lang="en-US" sz="1050" dirty="0"/>
          </a:p>
        </p:txBody>
      </p:sp>
      <p:sp>
        <p:nvSpPr>
          <p:cNvPr id="21" name="Text 15"/>
          <p:cNvSpPr txBox="1"/>
          <p:nvPr/>
        </p:nvSpPr>
        <p:spPr>
          <a:xfrm>
            <a:off x="6126480" y="1691640"/>
            <a:ext cx="553212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Output: Top 10 Contributing Features</a:t>
            </a:r>
            <a:endParaRPr lang="en-US" sz="1500" dirty="0"/>
          </a:p>
        </p:txBody>
      </p:sp>
      <p:sp>
        <p:nvSpPr>
          <p:cNvPr id="22" name="Text 16"/>
          <p:cNvSpPr txBox="1"/>
          <p:nvPr/>
        </p:nvSpPr>
        <p:spPr>
          <a:xfrm>
            <a:off x="6126480" y="2029968"/>
            <a:ext cx="5532120" cy="502920"/>
          </a:xfrm>
          <a:prstGeom prst="rect">
            <a:avLst/>
          </a:prstGeom>
          <a:noFill/>
          <a:ln/>
        </p:spPr>
        <p:txBody>
          <a:bodyPr wrap="square" lIns="0" tIns="0" rIns="0" bIns="0" rtlCol="0" anchor="ctr"/>
          <a:lstStyle/>
          <a:p>
            <a:pPr algn="l" indent="0" marL="0">
              <a:lnSpc>
                <a:spcPct val="115000"/>
              </a:lnSpc>
              <a:buNone/>
            </a:pPr>
            <a:r>
              <a:rPr lang="en-US" sz="1150" dirty="0">
                <a:solidFill>
                  <a:srgbClr val="D6D7E0"/>
                </a:solidFill>
                <a:latin typeface="Arial" pitchFamily="34" charset="0"/>
                <a:ea typeface="Arial" pitchFamily="34" charset="-122"/>
                <a:cs typeface="Arial" pitchFamily="34" charset="-120"/>
              </a:rPr>
              <a:t>The SHAP analysis surfaces the top 10 process parameters ranked by their contribution magnitude to the risk prediction. Each entry includes:</a:t>
            </a:r>
            <a:endParaRPr lang="en-US" sz="1150" dirty="0"/>
          </a:p>
        </p:txBody>
      </p:sp>
      <p:sp>
        <p:nvSpPr>
          <p:cNvPr id="23" name="Shape 17"/>
          <p:cNvSpPr/>
          <p:nvPr/>
        </p:nvSpPr>
        <p:spPr>
          <a:xfrm>
            <a:off x="6126480" y="2606040"/>
            <a:ext cx="2697480" cy="1234440"/>
          </a:xfrm>
          <a:prstGeom prst="rect">
            <a:avLst/>
          </a:prstGeom>
          <a:solidFill>
            <a:srgbClr val="252733"/>
          </a:solidFill>
          <a:ln w="12700">
            <a:solidFill>
              <a:srgbClr val="5C5E70"/>
            </a:solidFill>
            <a:prstDash val="solid"/>
          </a:ln>
        </p:spPr>
      </p:sp>
      <p:sp>
        <p:nvSpPr>
          <p:cNvPr id="24" name="Text 18"/>
          <p:cNvSpPr txBox="1"/>
          <p:nvPr/>
        </p:nvSpPr>
        <p:spPr>
          <a:xfrm>
            <a:off x="6309360" y="2706624"/>
            <a:ext cx="2331720" cy="23774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Feature Name</a:t>
            </a:r>
            <a:endParaRPr lang="en-US" sz="1500" dirty="0"/>
          </a:p>
        </p:txBody>
      </p:sp>
      <p:sp>
        <p:nvSpPr>
          <p:cNvPr id="25" name="Text 19"/>
          <p:cNvSpPr txBox="1"/>
          <p:nvPr/>
        </p:nvSpPr>
        <p:spPr>
          <a:xfrm>
            <a:off x="6309360" y="2980944"/>
            <a:ext cx="2331720" cy="813816"/>
          </a:xfrm>
          <a:prstGeom prst="rect">
            <a:avLst/>
          </a:prstGeom>
          <a:noFill/>
          <a:ln/>
        </p:spPr>
        <p:txBody>
          <a:bodyPr wrap="square" lIns="0" tIns="0" rIns="0" bIns="0" rtlCol="0" anchor="ctr"/>
          <a:lstStyle/>
          <a:p>
            <a:pPr indent="0" marL="0">
              <a:lnSpc>
                <a:spcPct val="105000"/>
              </a:lnSpc>
              <a:buNone/>
            </a:pPr>
            <a:r>
              <a:rPr lang="en-US" sz="1050" dirty="0">
                <a:solidFill>
                  <a:srgbClr val="D6D7E0"/>
                </a:solidFill>
                <a:latin typeface="Arial" pitchFamily="34" charset="0"/>
                <a:ea typeface="Arial" pitchFamily="34" charset="-122"/>
                <a:cs typeface="Arial" pitchFamily="34" charset="-120"/>
              </a:rPr>
              <a:t>Process parameter identifier (e.g., Feature_047) — physical sensor interpretation requires corresponding manufacturing metadata</a:t>
            </a:r>
            <a:endParaRPr lang="en-US" sz="1050" dirty="0"/>
          </a:p>
        </p:txBody>
      </p:sp>
      <p:sp>
        <p:nvSpPr>
          <p:cNvPr id="26" name="Shape 20"/>
          <p:cNvSpPr/>
          <p:nvPr/>
        </p:nvSpPr>
        <p:spPr>
          <a:xfrm>
            <a:off x="8961120" y="2606040"/>
            <a:ext cx="2697480" cy="1234440"/>
          </a:xfrm>
          <a:prstGeom prst="rect">
            <a:avLst/>
          </a:prstGeom>
          <a:solidFill>
            <a:srgbClr val="252733"/>
          </a:solidFill>
          <a:ln w="12700">
            <a:solidFill>
              <a:srgbClr val="5C5E70"/>
            </a:solidFill>
            <a:prstDash val="solid"/>
          </a:ln>
        </p:spPr>
      </p:sp>
      <p:sp>
        <p:nvSpPr>
          <p:cNvPr id="27" name="Text 21"/>
          <p:cNvSpPr txBox="1"/>
          <p:nvPr/>
        </p:nvSpPr>
        <p:spPr>
          <a:xfrm>
            <a:off x="9144000" y="2706624"/>
            <a:ext cx="2331720" cy="23774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SHAP Value</a:t>
            </a:r>
            <a:endParaRPr lang="en-US" sz="1500" dirty="0"/>
          </a:p>
        </p:txBody>
      </p:sp>
      <p:sp>
        <p:nvSpPr>
          <p:cNvPr id="28" name="Text 22"/>
          <p:cNvSpPr txBox="1"/>
          <p:nvPr/>
        </p:nvSpPr>
        <p:spPr>
          <a:xfrm>
            <a:off x="9144000" y="2980944"/>
            <a:ext cx="2331720" cy="813816"/>
          </a:xfrm>
          <a:prstGeom prst="rect">
            <a:avLst/>
          </a:prstGeom>
          <a:noFill/>
          <a:ln/>
        </p:spPr>
        <p:txBody>
          <a:bodyPr wrap="square" lIns="0" tIns="0" rIns="0" bIns="0" rtlCol="0" anchor="ctr"/>
          <a:lstStyle/>
          <a:p>
            <a:pPr indent="0" marL="0">
              <a:lnSpc>
                <a:spcPct val="105000"/>
              </a:lnSpc>
              <a:buNone/>
            </a:pPr>
            <a:r>
              <a:rPr lang="en-US" sz="1050" dirty="0">
                <a:solidFill>
                  <a:srgbClr val="D6D7E0"/>
                </a:solidFill>
                <a:latin typeface="Arial" pitchFamily="34" charset="0"/>
                <a:ea typeface="Arial" pitchFamily="34" charset="-122"/>
                <a:cs typeface="Arial" pitchFamily="34" charset="-120"/>
              </a:rPr>
              <a:t>Numerical contribution — magnitude indicates strength of influence on the model output</a:t>
            </a:r>
            <a:endParaRPr lang="en-US" sz="1050" dirty="0"/>
          </a:p>
        </p:txBody>
      </p:sp>
      <p:sp>
        <p:nvSpPr>
          <p:cNvPr id="29" name="Shape 23"/>
          <p:cNvSpPr/>
          <p:nvPr/>
        </p:nvSpPr>
        <p:spPr>
          <a:xfrm>
            <a:off x="6126480" y="3977640"/>
            <a:ext cx="5532120" cy="777240"/>
          </a:xfrm>
          <a:prstGeom prst="rect">
            <a:avLst/>
          </a:prstGeom>
          <a:solidFill>
            <a:srgbClr val="252733"/>
          </a:solidFill>
          <a:ln w="12700">
            <a:solidFill>
              <a:srgbClr val="5C5E70"/>
            </a:solidFill>
            <a:prstDash val="solid"/>
          </a:ln>
        </p:spPr>
      </p:sp>
      <p:sp>
        <p:nvSpPr>
          <p:cNvPr id="30" name="Text 24"/>
          <p:cNvSpPr txBox="1"/>
          <p:nvPr/>
        </p:nvSpPr>
        <p:spPr>
          <a:xfrm>
            <a:off x="6309360" y="4078224"/>
            <a:ext cx="5166360" cy="23774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Direction</a:t>
            </a:r>
            <a:endParaRPr lang="en-US" sz="1500" dirty="0"/>
          </a:p>
        </p:txBody>
      </p:sp>
      <p:sp>
        <p:nvSpPr>
          <p:cNvPr id="31" name="Text 25"/>
          <p:cNvSpPr txBox="1"/>
          <p:nvPr/>
        </p:nvSpPr>
        <p:spPr>
          <a:xfrm>
            <a:off x="6309360" y="4352544"/>
            <a:ext cx="5166360" cy="356616"/>
          </a:xfrm>
          <a:prstGeom prst="rect">
            <a:avLst/>
          </a:prstGeom>
          <a:noFill/>
          <a:ln/>
        </p:spPr>
        <p:txBody>
          <a:bodyPr wrap="square" lIns="0" tIns="0" rIns="0" bIns="0" rtlCol="0" anchor="ctr"/>
          <a:lstStyle/>
          <a:p>
            <a:pPr indent="0" marL="0">
              <a:lnSpc>
                <a:spcPct val="105000"/>
              </a:lnSpc>
              <a:buNone/>
            </a:pPr>
            <a:r>
              <a:rPr lang="en-US" sz="1050" dirty="0">
                <a:solidFill>
                  <a:srgbClr val="D6D7E0"/>
                </a:solidFill>
                <a:latin typeface="Arial" pitchFamily="34" charset="0"/>
                <a:ea typeface="Arial" pitchFamily="34" charset="-122"/>
                <a:cs typeface="Arial" pitchFamily="34" charset="-120"/>
              </a:rPr>
              <a:t>Positive (risk-increasing) or Negative (risk-reducing) classification for each contributing feature</a:t>
            </a:r>
            <a:endParaRPr lang="en-US" sz="1050" dirty="0"/>
          </a:p>
        </p:txBody>
      </p:sp>
      <p:sp>
        <p:nvSpPr>
          <p:cNvPr id="32" name="Shape 26"/>
          <p:cNvSpPr/>
          <p:nvPr/>
        </p:nvSpPr>
        <p:spPr>
          <a:xfrm>
            <a:off x="6126480" y="4892040"/>
            <a:ext cx="5532120" cy="777240"/>
          </a:xfrm>
          <a:prstGeom prst="roundRect">
            <a:avLst>
              <a:gd name="adj" fmla="val 5882"/>
            </a:avLst>
          </a:prstGeom>
          <a:solidFill>
            <a:srgbClr val="4B4002"/>
          </a:solidFill>
          <a:ln w="12700">
            <a:solidFill>
              <a:srgbClr val="4B4002"/>
            </a:solidFill>
            <a:prstDash val="solid"/>
          </a:ln>
        </p:spPr>
      </p:sp>
      <p:sp>
        <p:nvSpPr>
          <p:cNvPr id="33" name="Text 27"/>
          <p:cNvSpPr txBox="1"/>
          <p:nvPr/>
        </p:nvSpPr>
        <p:spPr>
          <a:xfrm>
            <a:off x="6263640" y="4983480"/>
            <a:ext cx="320040" cy="365760"/>
          </a:xfrm>
          <a:prstGeom prst="rect">
            <a:avLst/>
          </a:prstGeom>
          <a:noFill/>
          <a:ln/>
        </p:spPr>
        <p:txBody>
          <a:bodyPr wrap="square" lIns="0" tIns="0" rIns="0" bIns="0" rtlCol="0" anchor="ctr"/>
          <a:lstStyle/>
          <a:p>
            <a:pPr indent="0" marL="0">
              <a:buNone/>
            </a:pPr>
            <a:r>
              <a:rPr lang="en-US" sz="1400" dirty="0">
                <a:solidFill>
                  <a:srgbClr val="E8D77A"/>
                </a:solidFill>
                <a:latin typeface="Arial" pitchFamily="34" charset="0"/>
                <a:ea typeface="Arial" pitchFamily="34" charset="-122"/>
                <a:cs typeface="Arial" pitchFamily="34" charset="-120"/>
              </a:rPr>
              <a:t>⚠</a:t>
            </a:r>
            <a:endParaRPr lang="en-US" sz="1400" dirty="0"/>
          </a:p>
        </p:txBody>
      </p:sp>
      <p:sp>
        <p:nvSpPr>
          <p:cNvPr id="34" name="Text 28"/>
          <p:cNvSpPr txBox="1"/>
          <p:nvPr/>
        </p:nvSpPr>
        <p:spPr>
          <a:xfrm>
            <a:off x="6583680" y="4983480"/>
            <a:ext cx="4937760" cy="594360"/>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SECOM process features may be anonymized (Feature_001, Feature_002, etc.). Mapping SHAP-ranked features to physical sensor names requires corresponding manufacturing metadata not present in the public dataset.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11480"/>
            <a:ext cx="11155680" cy="594360"/>
          </a:xfrm>
          <a:prstGeom prst="rect">
            <a:avLst/>
          </a:prstGeom>
          <a:noFill/>
          <a:ln/>
        </p:spPr>
        <p:txBody>
          <a:bodyPr wrap="square" lIns="0" tIns="0" rIns="0" bIns="0" rtlCol="0" anchor="ctr"/>
          <a:lstStyle/>
          <a:p>
            <a:pPr indent="0" marL="0">
              <a:buNone/>
            </a:pPr>
            <a:r>
              <a:rPr lang="en-US" sz="3000" dirty="0">
                <a:solidFill>
                  <a:srgbClr val="1EA0C4"/>
                </a:solidFill>
                <a:latin typeface="Georgia" pitchFamily="34" charset="0"/>
                <a:ea typeface="Georgia" pitchFamily="34" charset="-122"/>
                <a:cs typeface="Georgia" pitchFamily="34" charset="-120"/>
              </a:rPr>
              <a:t>ACT </a:t>
            </a:r>
            <a:pPr indent="0" marL="0">
              <a:buNone/>
            </a:pPr>
            <a:r>
              <a:rPr lang="en-US" sz="3000" dirty="0">
                <a:solidFill>
                  <a:srgbClr val="F589C9"/>
                </a:solidFill>
                <a:latin typeface="Georgia" pitchFamily="34" charset="0"/>
                <a:ea typeface="Georgia" pitchFamily="34" charset="-122"/>
                <a:cs typeface="Georgia" pitchFamily="34" charset="-120"/>
              </a:rPr>
              <a:t>— Phase 4: IBM Bob Intelligence Layer</a:t>
            </a:r>
            <a:endParaRPr lang="en-US" sz="3000" dirty="0"/>
          </a:p>
        </p:txBody>
      </p:sp>
      <p:sp>
        <p:nvSpPr>
          <p:cNvPr id="3" name="Shape 1"/>
          <p:cNvSpPr/>
          <p:nvPr/>
        </p:nvSpPr>
        <p:spPr>
          <a:xfrm>
            <a:off x="521208" y="1188720"/>
            <a:ext cx="5120640" cy="5074920"/>
          </a:xfrm>
          <a:prstGeom prst="rect">
            <a:avLst/>
          </a:prstGeom>
          <a:solidFill>
            <a:srgbClr val="003466"/>
          </a:solidFill>
          <a:ln w="12700">
            <a:solidFill>
              <a:srgbClr val="003466"/>
            </a:solidFill>
            <a:prstDash val="solid"/>
          </a:ln>
        </p:spPr>
      </p:sp>
      <p:sp>
        <p:nvSpPr>
          <p:cNvPr id="4" name="Text 2"/>
          <p:cNvSpPr txBox="1"/>
          <p:nvPr/>
        </p:nvSpPr>
        <p:spPr>
          <a:xfrm>
            <a:off x="749808" y="1353312"/>
            <a:ext cx="4663440" cy="27432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Architectural Principle</a:t>
            </a:r>
            <a:endParaRPr lang="en-US" sz="1500" dirty="0"/>
          </a:p>
        </p:txBody>
      </p:sp>
      <p:sp>
        <p:nvSpPr>
          <p:cNvPr id="5" name="Text 3"/>
          <p:cNvSpPr txBox="1"/>
          <p:nvPr/>
        </p:nvSpPr>
        <p:spPr>
          <a:xfrm>
            <a:off x="749808" y="1645920"/>
            <a:ext cx="4663440" cy="8686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IBM Bob does </a:t>
            </a:r>
            <a:pPr indent="0" marL="0">
              <a:lnSpc>
                <a:spcPct val="110000"/>
              </a:lnSpc>
              <a:buNone/>
            </a:pPr>
            <a:r>
              <a:rPr lang="en-US" sz="1150" b="1" dirty="0">
                <a:solidFill>
                  <a:srgbClr val="FFFFFF"/>
                </a:solidFill>
                <a:latin typeface="Arial" pitchFamily="34" charset="0"/>
                <a:ea typeface="Arial" pitchFamily="34" charset="-122"/>
                <a:cs typeface="Arial" pitchFamily="34" charset="-120"/>
              </a:rPr>
              <a:t>NOT</a:t>
            </a:r>
            <a:pPr indent="0" marL="0">
              <a:lnSpc>
                <a:spcPct val="110000"/>
              </a:lnSpc>
              <a:buNone/>
            </a:pPr>
            <a:r>
              <a:rPr lang="en-US" sz="1150" dirty="0">
                <a:solidFill>
                  <a:srgbClr val="FFFFFF"/>
                </a:solidFill>
                <a:latin typeface="Arial" pitchFamily="34" charset="0"/>
                <a:ea typeface="Arial" pitchFamily="34" charset="-122"/>
                <a:cs typeface="Arial" pitchFamily="34" charset="-120"/>
              </a:rPr>
              <a:t> replace ML models. It operates strictly as an interpreter — translating verified numerical evidence from the CNN, SECOM classifier, and SHAP analysis into human-readable engineering insights.</a:t>
            </a:r>
            <a:endParaRPr lang="en-US" sz="1150" dirty="0"/>
          </a:p>
        </p:txBody>
      </p:sp>
      <p:sp>
        <p:nvSpPr>
          <p:cNvPr id="6" name="Text 4"/>
          <p:cNvSpPr txBox="1"/>
          <p:nvPr/>
        </p:nvSpPr>
        <p:spPr>
          <a:xfrm>
            <a:off x="749808" y="2560320"/>
            <a:ext cx="4663440" cy="594360"/>
          </a:xfrm>
          <a:prstGeom prst="rect">
            <a:avLst/>
          </a:prstGeom>
          <a:noFill/>
          <a:ln/>
        </p:spPr>
        <p:txBody>
          <a:bodyPr wrap="square" lIns="0" tIns="0" rIns="0" bIns="0" rtlCol="0" anchor="ctr"/>
          <a:lstStyle/>
          <a:p>
            <a:pPr algn="l" indent="0" marL="0">
              <a:lnSpc>
                <a:spcPct val="115000"/>
              </a:lnSpc>
              <a:buNone/>
            </a:pPr>
            <a:r>
              <a:rPr lang="en-US" sz="1150" dirty="0">
                <a:solidFill>
                  <a:srgbClr val="FFFFFF"/>
                </a:solidFill>
                <a:latin typeface="Arial" pitchFamily="34" charset="0"/>
                <a:ea typeface="Arial" pitchFamily="34" charset="-122"/>
                <a:cs typeface="Arial" pitchFamily="34" charset="-120"/>
              </a:rPr>
              <a:t>This separation is enforced by design: the LLM receives structured ML outputs as its grounded context and is prohibited from generating claims that go beyond the provided evidence.</a:t>
            </a:r>
            <a:endParaRPr lang="en-US" sz="1150" dirty="0"/>
          </a:p>
        </p:txBody>
      </p:sp>
      <p:sp>
        <p:nvSpPr>
          <p:cNvPr id="7" name="Shape 5"/>
          <p:cNvSpPr/>
          <p:nvPr/>
        </p:nvSpPr>
        <p:spPr>
          <a:xfrm>
            <a:off x="749808" y="3273552"/>
            <a:ext cx="4663440" cy="0"/>
          </a:xfrm>
          <a:prstGeom prst="line">
            <a:avLst/>
          </a:prstGeom>
          <a:noFill/>
          <a:ln w="12700">
            <a:solidFill>
              <a:srgbClr val="3E6FA0"/>
            </a:solidFill>
            <a:prstDash val="solid"/>
          </a:ln>
        </p:spPr>
      </p:sp>
      <p:sp>
        <p:nvSpPr>
          <p:cNvPr id="8" name="Text 6"/>
          <p:cNvSpPr txBox="1"/>
          <p:nvPr/>
        </p:nvSpPr>
        <p:spPr>
          <a:xfrm>
            <a:off x="749808" y="3401568"/>
            <a:ext cx="4663440" cy="27432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Model</a:t>
            </a:r>
            <a:endParaRPr lang="en-US" sz="1500" dirty="0"/>
          </a:p>
        </p:txBody>
      </p:sp>
      <p:sp>
        <p:nvSpPr>
          <p:cNvPr id="9" name="Text 7"/>
          <p:cNvSpPr txBox="1"/>
          <p:nvPr/>
        </p:nvSpPr>
        <p:spPr>
          <a:xfrm>
            <a:off x="749808" y="3703320"/>
            <a:ext cx="4663440" cy="274320"/>
          </a:xfrm>
          <a:prstGeom prst="rect">
            <a:avLst/>
          </a:prstGeom>
          <a:noFill/>
          <a:ln/>
        </p:spPr>
        <p:txBody>
          <a:bodyPr wrap="square" lIns="0" tIns="0" rIns="0" bIns="0" rtlCol="0" anchor="ctr"/>
          <a:lstStyle/>
          <a:p>
            <a:pPr algn="l" indent="0" marL="0">
              <a:lnSpc>
                <a:spcPct val="115000"/>
              </a:lnSpc>
              <a:buNone/>
            </a:pPr>
            <a:r>
              <a:rPr lang="en-US" sz="1200" dirty="0">
                <a:solidFill>
                  <a:srgbClr val="FFFFFF"/>
                </a:solidFill>
                <a:latin typeface="Arial" pitchFamily="34" charset="0"/>
                <a:ea typeface="Arial" pitchFamily="34" charset="-122"/>
                <a:cs typeface="Arial" pitchFamily="34" charset="-120"/>
              </a:rPr>
              <a:t>IBM watsonx.ai · Llama 3 70B Instruct</a:t>
            </a:r>
            <a:endParaRPr lang="en-US" sz="1200" dirty="0"/>
          </a:p>
        </p:txBody>
      </p:sp>
      <p:sp>
        <p:nvSpPr>
          <p:cNvPr id="10" name="Text 8"/>
          <p:cNvSpPr txBox="1"/>
          <p:nvPr/>
        </p:nvSpPr>
        <p:spPr>
          <a:xfrm>
            <a:off x="749808" y="4069080"/>
            <a:ext cx="4663440" cy="27432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Input to IBM Bob</a:t>
            </a:r>
            <a:endParaRPr lang="en-US" sz="1500" dirty="0"/>
          </a:p>
        </p:txBody>
      </p:sp>
      <p:sp>
        <p:nvSpPr>
          <p:cNvPr id="11" name="Text 9"/>
          <p:cNvSpPr txBox="1"/>
          <p:nvPr/>
        </p:nvSpPr>
        <p:spPr>
          <a:xfrm>
            <a:off x="749808" y="4389120"/>
            <a:ext cx="466344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Wafer defect class + confidence (from CNN)</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Process risk prediction + failure probability (from SECOM classifier)</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Top 10 SHAP feature contributions with direction and magnitude</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Risk context and lot metadata</a:t>
            </a:r>
            <a:endParaRPr lang="en-US" sz="1200" dirty="0"/>
          </a:p>
        </p:txBody>
      </p:sp>
      <p:sp>
        <p:nvSpPr>
          <p:cNvPr id="12" name="Text 10"/>
          <p:cNvSpPr txBox="1"/>
          <p:nvPr/>
        </p:nvSpPr>
        <p:spPr>
          <a:xfrm>
            <a:off x="6126480" y="1188720"/>
            <a:ext cx="553212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Constrained Prompting Rules</a:t>
            </a:r>
            <a:endParaRPr lang="en-US" sz="1500" dirty="0"/>
          </a:p>
        </p:txBody>
      </p:sp>
      <p:sp>
        <p:nvSpPr>
          <p:cNvPr id="13" name="Text 11"/>
          <p:cNvSpPr txBox="1"/>
          <p:nvPr/>
        </p:nvSpPr>
        <p:spPr>
          <a:xfrm>
            <a:off x="6126480" y="1536192"/>
            <a:ext cx="320040" cy="274320"/>
          </a:xfrm>
          <a:prstGeom prst="rect">
            <a:avLst/>
          </a:prstGeom>
          <a:noFill/>
          <a:ln/>
        </p:spPr>
        <p:txBody>
          <a:bodyPr wrap="square" lIns="0" tIns="0" rIns="0" bIns="0" rtlCol="0" anchor="ctr"/>
          <a:lstStyle/>
          <a:p>
            <a:pPr indent="0" marL="0">
              <a:buNone/>
            </a:pPr>
            <a:r>
              <a:rPr lang="en-US" sz="1400" dirty="0">
                <a:solidFill>
                  <a:srgbClr val="D98CC0"/>
                </a:solidFill>
                <a:latin typeface="Arial" pitchFamily="34" charset="0"/>
                <a:ea typeface="Arial" pitchFamily="34" charset="-122"/>
                <a:cs typeface="Arial" pitchFamily="34" charset="-120"/>
              </a:rPr>
              <a:t>→</a:t>
            </a:r>
            <a:endParaRPr lang="en-US" sz="1400" dirty="0"/>
          </a:p>
        </p:txBody>
      </p:sp>
      <p:sp>
        <p:nvSpPr>
          <p:cNvPr id="14" name="Text 12"/>
          <p:cNvSpPr txBox="1"/>
          <p:nvPr/>
        </p:nvSpPr>
        <p:spPr>
          <a:xfrm>
            <a:off x="6446520" y="1536192"/>
            <a:ext cx="521208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No Hallucination of Metrics</a:t>
            </a:r>
            <a:endParaRPr lang="en-US" sz="1350" dirty="0"/>
          </a:p>
        </p:txBody>
      </p:sp>
      <p:sp>
        <p:nvSpPr>
          <p:cNvPr id="15" name="Text 13"/>
          <p:cNvSpPr txBox="1"/>
          <p:nvPr/>
        </p:nvSpPr>
        <p:spPr>
          <a:xfrm>
            <a:off x="6446520" y="1828800"/>
            <a:ext cx="52120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IBM Bob cannot fabricate accuracy numbers, sensor meanings, or performance values not present in the ML evidence provided</a:t>
            </a:r>
            <a:endParaRPr lang="en-US" sz="1100" dirty="0"/>
          </a:p>
        </p:txBody>
      </p:sp>
      <p:sp>
        <p:nvSpPr>
          <p:cNvPr id="16" name="Text 14"/>
          <p:cNvSpPr txBox="1"/>
          <p:nvPr/>
        </p:nvSpPr>
        <p:spPr>
          <a:xfrm>
            <a:off x="6126480" y="2377440"/>
            <a:ext cx="320040" cy="274320"/>
          </a:xfrm>
          <a:prstGeom prst="rect">
            <a:avLst/>
          </a:prstGeom>
          <a:noFill/>
          <a:ln/>
        </p:spPr>
        <p:txBody>
          <a:bodyPr wrap="square" lIns="0" tIns="0" rIns="0" bIns="0" rtlCol="0" anchor="ctr"/>
          <a:lstStyle/>
          <a:p>
            <a:pPr indent="0" marL="0">
              <a:buNone/>
            </a:pPr>
            <a:r>
              <a:rPr lang="en-US" sz="1400" dirty="0">
                <a:solidFill>
                  <a:srgbClr val="D98CC0"/>
                </a:solidFill>
                <a:latin typeface="Arial" pitchFamily="34" charset="0"/>
                <a:ea typeface="Arial" pitchFamily="34" charset="-122"/>
                <a:cs typeface="Arial" pitchFamily="34" charset="-120"/>
              </a:rPr>
              <a:t>→</a:t>
            </a:r>
            <a:endParaRPr lang="en-US" sz="1400" dirty="0"/>
          </a:p>
        </p:txBody>
      </p:sp>
      <p:sp>
        <p:nvSpPr>
          <p:cNvPr id="17" name="Text 15"/>
          <p:cNvSpPr txBox="1"/>
          <p:nvPr/>
        </p:nvSpPr>
        <p:spPr>
          <a:xfrm>
            <a:off x="6446520" y="2377440"/>
            <a:ext cx="521208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No Unsupported Causal Claims</a:t>
            </a:r>
            <a:endParaRPr lang="en-US" sz="1350" dirty="0"/>
          </a:p>
        </p:txBody>
      </p:sp>
      <p:sp>
        <p:nvSpPr>
          <p:cNvPr id="18" name="Text 16"/>
          <p:cNvSpPr txBox="1"/>
          <p:nvPr/>
        </p:nvSpPr>
        <p:spPr>
          <a:xfrm>
            <a:off x="6446520" y="2670048"/>
            <a:ext cx="52120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Causal statements must trace directly to SHAP-ranked feature evidence — speculative root cause narratives are prohibited</a:t>
            </a:r>
            <a:endParaRPr lang="en-US" sz="1100" dirty="0"/>
          </a:p>
        </p:txBody>
      </p:sp>
      <p:sp>
        <p:nvSpPr>
          <p:cNvPr id="19" name="Text 17"/>
          <p:cNvSpPr txBox="1"/>
          <p:nvPr/>
        </p:nvSpPr>
        <p:spPr>
          <a:xfrm>
            <a:off x="6126480" y="3218688"/>
            <a:ext cx="320040" cy="274320"/>
          </a:xfrm>
          <a:prstGeom prst="rect">
            <a:avLst/>
          </a:prstGeom>
          <a:noFill/>
          <a:ln/>
        </p:spPr>
        <p:txBody>
          <a:bodyPr wrap="square" lIns="0" tIns="0" rIns="0" bIns="0" rtlCol="0" anchor="ctr"/>
          <a:lstStyle/>
          <a:p>
            <a:pPr indent="0" marL="0">
              <a:buNone/>
            </a:pPr>
            <a:r>
              <a:rPr lang="en-US" sz="1400" dirty="0">
                <a:solidFill>
                  <a:srgbClr val="D98CC0"/>
                </a:solidFill>
                <a:latin typeface="Arial" pitchFamily="34" charset="0"/>
                <a:ea typeface="Arial" pitchFamily="34" charset="-122"/>
                <a:cs typeface="Arial" pitchFamily="34" charset="-120"/>
              </a:rPr>
              <a:t>→</a:t>
            </a:r>
            <a:endParaRPr lang="en-US" sz="1400" dirty="0"/>
          </a:p>
        </p:txBody>
      </p:sp>
      <p:sp>
        <p:nvSpPr>
          <p:cNvPr id="20" name="Text 18"/>
          <p:cNvSpPr txBox="1"/>
          <p:nvPr/>
        </p:nvSpPr>
        <p:spPr>
          <a:xfrm>
            <a:off x="6446520" y="3218688"/>
            <a:ext cx="521208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Structured JSON Response</a:t>
            </a:r>
            <a:endParaRPr lang="en-US" sz="1350" dirty="0"/>
          </a:p>
        </p:txBody>
      </p:sp>
      <p:sp>
        <p:nvSpPr>
          <p:cNvPr id="21" name="Text 19"/>
          <p:cNvSpPr txBox="1"/>
          <p:nvPr/>
        </p:nvSpPr>
        <p:spPr>
          <a:xfrm>
            <a:off x="6446520" y="3511296"/>
            <a:ext cx="52120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Output is constrained to a defined schema: executive summary · root cause candidates · recommended corrective actions · explicit limitations</a:t>
            </a:r>
            <a:endParaRPr lang="en-US" sz="1100" dirty="0"/>
          </a:p>
        </p:txBody>
      </p:sp>
      <p:sp>
        <p:nvSpPr>
          <p:cNvPr id="22" name="Text 20"/>
          <p:cNvSpPr txBox="1"/>
          <p:nvPr/>
        </p:nvSpPr>
        <p:spPr>
          <a:xfrm>
            <a:off x="6126480" y="4059936"/>
            <a:ext cx="320040" cy="274320"/>
          </a:xfrm>
          <a:prstGeom prst="rect">
            <a:avLst/>
          </a:prstGeom>
          <a:noFill/>
          <a:ln/>
        </p:spPr>
        <p:txBody>
          <a:bodyPr wrap="square" lIns="0" tIns="0" rIns="0" bIns="0" rtlCol="0" anchor="ctr"/>
          <a:lstStyle/>
          <a:p>
            <a:pPr indent="0" marL="0">
              <a:buNone/>
            </a:pPr>
            <a:r>
              <a:rPr lang="en-US" sz="1400" dirty="0">
                <a:solidFill>
                  <a:srgbClr val="D98CC0"/>
                </a:solidFill>
                <a:latin typeface="Arial" pitchFamily="34" charset="0"/>
                <a:ea typeface="Arial" pitchFamily="34" charset="-122"/>
                <a:cs typeface="Arial" pitchFamily="34" charset="-120"/>
              </a:rPr>
              <a:t>→</a:t>
            </a:r>
            <a:endParaRPr lang="en-US" sz="1400" dirty="0"/>
          </a:p>
        </p:txBody>
      </p:sp>
      <p:sp>
        <p:nvSpPr>
          <p:cNvPr id="23" name="Text 21"/>
          <p:cNvSpPr txBox="1"/>
          <p:nvPr/>
        </p:nvSpPr>
        <p:spPr>
          <a:xfrm>
            <a:off x="6446520" y="4059936"/>
            <a:ext cx="521208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Limitations Surfaced</a:t>
            </a:r>
            <a:endParaRPr lang="en-US" sz="1350" dirty="0"/>
          </a:p>
        </p:txBody>
      </p:sp>
      <p:sp>
        <p:nvSpPr>
          <p:cNvPr id="24" name="Text 22"/>
          <p:cNvSpPr txBox="1"/>
          <p:nvPr/>
        </p:nvSpPr>
        <p:spPr>
          <a:xfrm>
            <a:off x="6446520" y="4352544"/>
            <a:ext cx="5212080" cy="502920"/>
          </a:xfrm>
          <a:prstGeom prst="rect">
            <a:avLst/>
          </a:prstGeom>
          <a:noFill/>
          <a:ln/>
        </p:spPr>
        <p:txBody>
          <a:bodyPr wrap="square" lIns="0" tIns="0" rIns="0" bIns="0" rtlCol="0" anchor="ctr"/>
          <a:lstStyle/>
          <a:p>
            <a:pPr indent="0" marL="0">
              <a:lnSpc>
                <a:spcPct val="110000"/>
              </a:lnSpc>
              <a:buNone/>
            </a:pPr>
            <a:r>
              <a:rPr lang="en-US" sz="1100" dirty="0">
                <a:solidFill>
                  <a:srgbClr val="D6D7E0"/>
                </a:solidFill>
                <a:latin typeface="Arial" pitchFamily="34" charset="0"/>
                <a:ea typeface="Arial" pitchFamily="34" charset="-122"/>
                <a:cs typeface="Arial" pitchFamily="34" charset="-120"/>
              </a:rPr>
              <a:t>The structured response includes an explicit limitations field — ensuring engineers are aware of what the model cannot determine from available evidence</a:t>
            </a:r>
            <a:endParaRPr lang="en-US" sz="1100" dirty="0"/>
          </a:p>
        </p:txBody>
      </p:sp>
      <p:sp>
        <p:nvSpPr>
          <p:cNvPr id="25" name="Text 23"/>
          <p:cNvSpPr txBox="1"/>
          <p:nvPr/>
        </p:nvSpPr>
        <p:spPr>
          <a:xfrm>
            <a:off x="6126480" y="4946904"/>
            <a:ext cx="553212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IBM Bob Output Components</a:t>
            </a:r>
            <a:endParaRPr lang="en-US" sz="1500" dirty="0"/>
          </a:p>
        </p:txBody>
      </p:sp>
      <p:sp>
        <p:nvSpPr>
          <p:cNvPr id="26" name="Text 24"/>
          <p:cNvSpPr txBox="1"/>
          <p:nvPr/>
        </p:nvSpPr>
        <p:spPr>
          <a:xfrm>
            <a:off x="6126480" y="5266944"/>
            <a:ext cx="5532120" cy="548640"/>
          </a:xfrm>
          <a:prstGeom prst="rect">
            <a:avLst/>
          </a:prstGeom>
          <a:noFill/>
          <a:ln/>
        </p:spPr>
        <p:txBody>
          <a:bodyPr wrap="square" lIns="0" tIns="0" rIns="0" bIns="0" rtlCol="0" anchor="ctr"/>
          <a:lstStyle/>
          <a:p>
            <a:pPr indent="0" marL="0">
              <a:lnSpc>
                <a:spcPct val="115000"/>
              </a:lnSpc>
              <a:buNone/>
            </a:pPr>
            <a:r>
              <a:rPr lang="en-US" sz="1150" b="1" dirty="0">
                <a:solidFill>
                  <a:srgbClr val="FFFFFF"/>
                </a:solidFill>
                <a:latin typeface="Arial" pitchFamily="34" charset="0"/>
                <a:ea typeface="Arial" pitchFamily="34" charset="-122"/>
                <a:cs typeface="Arial" pitchFamily="34" charset="-120"/>
              </a:rPr>
              <a:t>Executive Summary</a:t>
            </a:r>
            <a:pPr indent="0" marL="0">
              <a:lnSpc>
                <a:spcPct val="115000"/>
              </a:lnSpc>
              <a:buNone/>
            </a:pPr>
            <a:r>
              <a:rPr lang="en-US" sz="1150" dirty="0">
                <a:solidFill>
                  <a:srgbClr val="FFFFFF"/>
                </a:solidFill>
                <a:latin typeface="Arial" pitchFamily="34" charset="0"/>
                <a:ea typeface="Arial" pitchFamily="34" charset="-122"/>
                <a:cs typeface="Arial" pitchFamily="34" charset="-120"/>
              </a:rPr>
              <a:t> · </a:t>
            </a:r>
            <a:pPr indent="0" marL="0">
              <a:lnSpc>
                <a:spcPct val="115000"/>
              </a:lnSpc>
              <a:buNone/>
            </a:pPr>
            <a:r>
              <a:rPr lang="en-US" sz="1150" b="1" dirty="0">
                <a:solidFill>
                  <a:srgbClr val="FFFFFF"/>
                </a:solidFill>
                <a:latin typeface="Arial" pitchFamily="34" charset="0"/>
                <a:ea typeface="Arial" pitchFamily="34" charset="-122"/>
                <a:cs typeface="Arial" pitchFamily="34" charset="-120"/>
              </a:rPr>
              <a:t>Root Cause Candidates</a:t>
            </a:r>
            <a:pPr indent="0" marL="0">
              <a:lnSpc>
                <a:spcPct val="115000"/>
              </a:lnSpc>
              <a:buNone/>
            </a:pPr>
            <a:r>
              <a:rPr lang="en-US" sz="1150" dirty="0">
                <a:solidFill>
                  <a:srgbClr val="FFFFFF"/>
                </a:solidFill>
                <a:latin typeface="Arial" pitchFamily="34" charset="0"/>
                <a:ea typeface="Arial" pitchFamily="34" charset="-122"/>
                <a:cs typeface="Arial" pitchFamily="34" charset="-120"/>
              </a:rPr>
              <a:t> (SHAP-grounded) · </a:t>
            </a:r>
            <a:pPr indent="0" marL="0">
              <a:lnSpc>
                <a:spcPct val="115000"/>
              </a:lnSpc>
              <a:buNone/>
            </a:pPr>
            <a:r>
              <a:rPr lang="en-US" sz="1150" b="1" dirty="0">
                <a:solidFill>
                  <a:srgbClr val="FFFFFF"/>
                </a:solidFill>
                <a:latin typeface="Arial" pitchFamily="34" charset="0"/>
                <a:ea typeface="Arial" pitchFamily="34" charset="-122"/>
                <a:cs typeface="Arial" pitchFamily="34" charset="-120"/>
              </a:rPr>
              <a:t>Recommended Corrective Actions</a:t>
            </a:r>
            <a:pPr indent="0" marL="0">
              <a:lnSpc>
                <a:spcPct val="115000"/>
              </a:lnSpc>
              <a:buNone/>
            </a:pPr>
            <a:r>
              <a:rPr lang="en-US" sz="1150" dirty="0">
                <a:solidFill>
                  <a:srgbClr val="FFFFFF"/>
                </a:solidFill>
                <a:latin typeface="Arial" pitchFamily="34" charset="0"/>
                <a:ea typeface="Arial" pitchFamily="34" charset="-122"/>
                <a:cs typeface="Arial" pitchFamily="34" charset="-120"/>
              </a:rPr>
              <a:t> · </a:t>
            </a:r>
            <a:pPr indent="0" marL="0">
              <a:lnSpc>
                <a:spcPct val="115000"/>
              </a:lnSpc>
              <a:buNone/>
            </a:pPr>
            <a:r>
              <a:rPr lang="en-US" sz="1150" b="1" dirty="0">
                <a:solidFill>
                  <a:srgbClr val="FFFFFF"/>
                </a:solidFill>
                <a:latin typeface="Arial" pitchFamily="34" charset="0"/>
                <a:ea typeface="Arial" pitchFamily="34" charset="-122"/>
                <a:cs typeface="Arial" pitchFamily="34" charset="-120"/>
              </a:rPr>
              <a:t>Next Checks</a:t>
            </a:r>
            <a:pPr indent="0" marL="0">
              <a:lnSpc>
                <a:spcPct val="115000"/>
              </a:lnSpc>
              <a:buNone/>
            </a:pPr>
            <a:r>
              <a:rPr lang="en-US" sz="1150" dirty="0">
                <a:solidFill>
                  <a:srgbClr val="FFFFFF"/>
                </a:solidFill>
                <a:latin typeface="Arial" pitchFamily="34" charset="0"/>
                <a:ea typeface="Arial" pitchFamily="34" charset="-122"/>
                <a:cs typeface="Arial" pitchFamily="34" charset="-120"/>
              </a:rPr>
              <a:t> · </a:t>
            </a:r>
            <a:pPr indent="0" marL="0">
              <a:lnSpc>
                <a:spcPct val="115000"/>
              </a:lnSpc>
              <a:buNone/>
            </a:pPr>
            <a:r>
              <a:rPr lang="en-US" sz="1150" b="1" dirty="0">
                <a:solidFill>
                  <a:srgbClr val="FFFFFF"/>
                </a:solidFill>
                <a:latin typeface="Arial" pitchFamily="34" charset="0"/>
                <a:ea typeface="Arial" pitchFamily="34" charset="-122"/>
                <a:cs typeface="Arial" pitchFamily="34" charset="-120"/>
              </a:rPr>
              <a:t>Stated Limitations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52733"/>
        </a:solidFill>
      </p:bgPr>
    </p:bg>
    <p:spTree>
      <p:nvGrpSpPr>
        <p:cNvPr id="1" name=""/>
        <p:cNvGrpSpPr/>
        <p:nvPr/>
      </p:nvGrpSpPr>
      <p:grpSpPr>
        <a:xfrm>
          <a:off x="0" y="0"/>
          <a:ext cx="0" cy="0"/>
          <a:chOff x="0" y="0"/>
          <a:chExt cx="0" cy="0"/>
        </a:xfrm>
      </p:grpSpPr>
      <p:sp>
        <p:nvSpPr>
          <p:cNvPr id="2" name="Text 0"/>
          <p:cNvSpPr txBox="1"/>
          <p:nvPr/>
        </p:nvSpPr>
        <p:spPr>
          <a:xfrm>
            <a:off x="521208" y="411480"/>
            <a:ext cx="11155680" cy="594360"/>
          </a:xfrm>
          <a:prstGeom prst="rect">
            <a:avLst/>
          </a:prstGeom>
          <a:noFill/>
          <a:ln/>
        </p:spPr>
        <p:txBody>
          <a:bodyPr wrap="square" lIns="0" tIns="0" rIns="0" bIns="0" rtlCol="0" anchor="ctr"/>
          <a:lstStyle/>
          <a:p>
            <a:pPr indent="0" marL="0">
              <a:buNone/>
            </a:pPr>
            <a:r>
              <a:rPr lang="en-US" sz="3000" dirty="0">
                <a:solidFill>
                  <a:srgbClr val="1EA0C4"/>
                </a:solidFill>
                <a:latin typeface="Georgia" pitchFamily="34" charset="0"/>
                <a:ea typeface="Georgia" pitchFamily="34" charset="-122"/>
                <a:cs typeface="Georgia" pitchFamily="34" charset="-120"/>
              </a:rPr>
              <a:t>PREVENT </a:t>
            </a:r>
            <a:pPr indent="0" marL="0">
              <a:buNone/>
            </a:pPr>
            <a:r>
              <a:rPr lang="en-US" sz="3000" dirty="0">
                <a:solidFill>
                  <a:srgbClr val="F589C9"/>
                </a:solidFill>
                <a:latin typeface="Georgia" pitchFamily="34" charset="0"/>
                <a:ea typeface="Georgia" pitchFamily="34" charset="-122"/>
                <a:cs typeface="Georgia" pitchFamily="34" charset="-120"/>
              </a:rPr>
              <a:t>— Phase 5: Upcoming Batch Risk Monitor</a:t>
            </a:r>
            <a:endParaRPr lang="en-US" sz="3000" dirty="0"/>
          </a:p>
        </p:txBody>
      </p:sp>
      <p:sp>
        <p:nvSpPr>
          <p:cNvPr id="3" name="Text 1"/>
          <p:cNvSpPr txBox="1"/>
          <p:nvPr/>
        </p:nvSpPr>
        <p:spPr>
          <a:xfrm>
            <a:off x="521208" y="1051560"/>
            <a:ext cx="11155680" cy="502920"/>
          </a:xfrm>
          <a:prstGeom prst="rect">
            <a:avLst/>
          </a:prstGeom>
          <a:noFill/>
          <a:ln/>
        </p:spPr>
        <p:txBody>
          <a:bodyPr wrap="square" lIns="0" tIns="0" rIns="0" bIns="0" rtlCol="0" anchor="ctr"/>
          <a:lstStyle/>
          <a:p>
            <a:pPr algn="l" indent="0" marL="0">
              <a:lnSpc>
                <a:spcPct val="115000"/>
              </a:lnSpc>
              <a:buNone/>
            </a:pPr>
            <a:r>
              <a:rPr lang="en-US" sz="1300" dirty="0">
                <a:solidFill>
                  <a:srgbClr val="D6D7E0"/>
                </a:solidFill>
                <a:latin typeface="Arial" pitchFamily="34" charset="0"/>
                <a:ea typeface="Arial" pitchFamily="34" charset="-122"/>
                <a:cs typeface="Arial" pitchFamily="34" charset="-120"/>
              </a:rPr>
              <a:t>The PREVENT phase closes the pipeline loop — applying the same SECOM inference and SHAP analysis to scheduled, not yet executed production batches, enabling engineers to intervene before a high-risk lot enters manufacturing.</a:t>
            </a:r>
            <a:endParaRPr lang="en-US" sz="1300" dirty="0"/>
          </a:p>
        </p:txBody>
      </p:sp>
      <p:sp>
        <p:nvSpPr>
          <p:cNvPr id="4" name="Text 2"/>
          <p:cNvSpPr txBox="1"/>
          <p:nvPr/>
        </p:nvSpPr>
        <p:spPr>
          <a:xfrm>
            <a:off x="521208" y="1691640"/>
            <a:ext cx="525780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Process: Pre-Production Screening</a:t>
            </a:r>
            <a:endParaRPr lang="en-US" sz="1500" dirty="0"/>
          </a:p>
        </p:txBody>
      </p:sp>
      <p:sp>
        <p:nvSpPr>
          <p:cNvPr id="5" name="Text 3"/>
          <p:cNvSpPr txBox="1"/>
          <p:nvPr/>
        </p:nvSpPr>
        <p:spPr>
          <a:xfrm>
            <a:off x="521208" y="202996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01</a:t>
            </a:r>
            <a:endParaRPr lang="en-US" sz="1100" dirty="0"/>
          </a:p>
        </p:txBody>
      </p:sp>
      <p:pic>
        <p:nvPicPr>
          <p:cNvPr id="6" name="Image 0" descr="grad_horiz.png">    </p:cNvPr>
          <p:cNvPicPr>
            <a:picLocks noChangeAspect="1"/>
          </p:cNvPicPr>
          <p:nvPr/>
        </p:nvPicPr>
        <p:blipFill>
          <a:blip r:embed="rId1"/>
          <a:stretch>
            <a:fillRect/>
          </a:stretch>
        </p:blipFill>
        <p:spPr>
          <a:xfrm>
            <a:off x="521208" y="2249424"/>
            <a:ext cx="5257800" cy="27432"/>
          </a:xfrm>
          <a:prstGeom prst="rect">
            <a:avLst/>
          </a:prstGeom>
        </p:spPr>
      </p:pic>
      <p:sp>
        <p:nvSpPr>
          <p:cNvPr id="7" name="Text 4"/>
          <p:cNvSpPr txBox="1"/>
          <p:nvPr/>
        </p:nvSpPr>
        <p:spPr>
          <a:xfrm>
            <a:off x="521208" y="230428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Batch Parameter Ingestion</a:t>
            </a:r>
            <a:endParaRPr lang="en-US" sz="1350" dirty="0"/>
          </a:p>
        </p:txBody>
      </p:sp>
      <p:sp>
        <p:nvSpPr>
          <p:cNvPr id="8" name="Text 5"/>
          <p:cNvSpPr txBox="1"/>
          <p:nvPr/>
        </p:nvSpPr>
        <p:spPr>
          <a:xfrm>
            <a:off x="521208" y="256032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Scheduled batch process parameters loaded from the upstream planning system or manually submitted</a:t>
            </a:r>
            <a:endParaRPr lang="en-US" sz="1050" dirty="0"/>
          </a:p>
        </p:txBody>
      </p:sp>
      <p:sp>
        <p:nvSpPr>
          <p:cNvPr id="9" name="Text 6"/>
          <p:cNvSpPr txBox="1"/>
          <p:nvPr/>
        </p:nvSpPr>
        <p:spPr>
          <a:xfrm>
            <a:off x="521208" y="299008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02</a:t>
            </a:r>
            <a:endParaRPr lang="en-US" sz="1100" dirty="0"/>
          </a:p>
        </p:txBody>
      </p:sp>
      <p:pic>
        <p:nvPicPr>
          <p:cNvPr id="10" name="Image 1" descr="grad_horiz.png">    </p:cNvPr>
          <p:cNvPicPr>
            <a:picLocks noChangeAspect="1"/>
          </p:cNvPicPr>
          <p:nvPr/>
        </p:nvPicPr>
        <p:blipFill>
          <a:blip r:embed="rId2"/>
          <a:stretch>
            <a:fillRect/>
          </a:stretch>
        </p:blipFill>
        <p:spPr>
          <a:xfrm>
            <a:off x="521208" y="3209544"/>
            <a:ext cx="5257800" cy="27432"/>
          </a:xfrm>
          <a:prstGeom prst="rect">
            <a:avLst/>
          </a:prstGeom>
        </p:spPr>
      </p:pic>
      <p:sp>
        <p:nvSpPr>
          <p:cNvPr id="11" name="Text 7"/>
          <p:cNvSpPr txBox="1"/>
          <p:nvPr/>
        </p:nvSpPr>
        <p:spPr>
          <a:xfrm>
            <a:off x="521208" y="326440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SECOM Model Inference</a:t>
            </a:r>
            <a:endParaRPr lang="en-US" sz="1350" dirty="0"/>
          </a:p>
        </p:txBody>
      </p:sp>
      <p:sp>
        <p:nvSpPr>
          <p:cNvPr id="12" name="Text 8"/>
          <p:cNvSpPr txBox="1"/>
          <p:nvPr/>
        </p:nvSpPr>
        <p:spPr>
          <a:xfrm>
            <a:off x="521208" y="352044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SECOM VotingClassifier applied to upcoming batch feature vector — same inference path as Phase 2</a:t>
            </a:r>
            <a:endParaRPr lang="en-US" sz="1050" dirty="0"/>
          </a:p>
        </p:txBody>
      </p:sp>
      <p:sp>
        <p:nvSpPr>
          <p:cNvPr id="13" name="Text 9"/>
          <p:cNvSpPr txBox="1"/>
          <p:nvPr/>
        </p:nvSpPr>
        <p:spPr>
          <a:xfrm>
            <a:off x="521208" y="395020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03</a:t>
            </a:r>
            <a:endParaRPr lang="en-US" sz="1100" dirty="0"/>
          </a:p>
        </p:txBody>
      </p:sp>
      <p:pic>
        <p:nvPicPr>
          <p:cNvPr id="14" name="Image 2" descr="grad_horiz.png">    </p:cNvPr>
          <p:cNvPicPr>
            <a:picLocks noChangeAspect="1"/>
          </p:cNvPicPr>
          <p:nvPr/>
        </p:nvPicPr>
        <p:blipFill>
          <a:blip r:embed="rId3"/>
          <a:stretch>
            <a:fillRect/>
          </a:stretch>
        </p:blipFill>
        <p:spPr>
          <a:xfrm>
            <a:off x="521208" y="4169664"/>
            <a:ext cx="5257800" cy="27432"/>
          </a:xfrm>
          <a:prstGeom prst="rect">
            <a:avLst/>
          </a:prstGeom>
        </p:spPr>
      </p:pic>
      <p:sp>
        <p:nvSpPr>
          <p:cNvPr id="15" name="Text 10"/>
          <p:cNvSpPr txBox="1"/>
          <p:nvPr/>
        </p:nvSpPr>
        <p:spPr>
          <a:xfrm>
            <a:off x="521208" y="422452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Failure Probability Computation</a:t>
            </a:r>
            <a:endParaRPr lang="en-US" sz="1350" dirty="0"/>
          </a:p>
        </p:txBody>
      </p:sp>
      <p:sp>
        <p:nvSpPr>
          <p:cNvPr id="16" name="Text 11"/>
          <p:cNvSpPr txBox="1"/>
          <p:nvPr/>
        </p:nvSpPr>
        <p:spPr>
          <a:xfrm>
            <a:off x="521208" y="448056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Calibrated failure probability computed and compared against the three-tier risk threshold system</a:t>
            </a:r>
            <a:endParaRPr lang="en-US" sz="1050" dirty="0"/>
          </a:p>
        </p:txBody>
      </p:sp>
      <p:sp>
        <p:nvSpPr>
          <p:cNvPr id="17" name="Text 12"/>
          <p:cNvSpPr txBox="1"/>
          <p:nvPr/>
        </p:nvSpPr>
        <p:spPr>
          <a:xfrm>
            <a:off x="521208" y="4910328"/>
            <a:ext cx="548640" cy="219456"/>
          </a:xfrm>
          <a:prstGeom prst="rect">
            <a:avLst/>
          </a:prstGeom>
          <a:noFill/>
          <a:ln/>
        </p:spPr>
        <p:txBody>
          <a:bodyPr wrap="square" lIns="0" tIns="0" rIns="0" bIns="0" rtlCol="0" anchor="ctr"/>
          <a:lstStyle/>
          <a:p>
            <a:pPr indent="0" marL="0">
              <a:buNone/>
            </a:pPr>
            <a:r>
              <a:rPr lang="en-US" sz="1100" dirty="0">
                <a:solidFill>
                  <a:srgbClr val="D6D7E0"/>
                </a:solidFill>
                <a:latin typeface="Arial" pitchFamily="34" charset="0"/>
                <a:ea typeface="Arial" pitchFamily="34" charset="-122"/>
                <a:cs typeface="Arial" pitchFamily="34" charset="-120"/>
              </a:rPr>
              <a:t>04</a:t>
            </a:r>
            <a:endParaRPr lang="en-US" sz="1100" dirty="0"/>
          </a:p>
        </p:txBody>
      </p:sp>
      <p:pic>
        <p:nvPicPr>
          <p:cNvPr id="18" name="Image 3" descr="grad_horiz.png">    </p:cNvPr>
          <p:cNvPicPr>
            <a:picLocks noChangeAspect="1"/>
          </p:cNvPicPr>
          <p:nvPr/>
        </p:nvPicPr>
        <p:blipFill>
          <a:blip r:embed="rId4"/>
          <a:stretch>
            <a:fillRect/>
          </a:stretch>
        </p:blipFill>
        <p:spPr>
          <a:xfrm>
            <a:off x="521208" y="5129784"/>
            <a:ext cx="5257800" cy="27432"/>
          </a:xfrm>
          <a:prstGeom prst="rect">
            <a:avLst/>
          </a:prstGeom>
        </p:spPr>
      </p:pic>
      <p:sp>
        <p:nvSpPr>
          <p:cNvPr id="19" name="Text 13"/>
          <p:cNvSpPr txBox="1"/>
          <p:nvPr/>
        </p:nvSpPr>
        <p:spPr>
          <a:xfrm>
            <a:off x="521208" y="5184648"/>
            <a:ext cx="5257800" cy="23774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SHAP Signal Extraction</a:t>
            </a:r>
            <a:endParaRPr lang="en-US" sz="1350" dirty="0"/>
          </a:p>
        </p:txBody>
      </p:sp>
      <p:sp>
        <p:nvSpPr>
          <p:cNvPr id="20" name="Text 14"/>
          <p:cNvSpPr txBox="1"/>
          <p:nvPr/>
        </p:nvSpPr>
        <p:spPr>
          <a:xfrm>
            <a:off x="521208" y="5440680"/>
            <a:ext cx="5257800" cy="457200"/>
          </a:xfrm>
          <a:prstGeom prst="rect">
            <a:avLst/>
          </a:prstGeom>
          <a:noFill/>
          <a:ln/>
        </p:spPr>
        <p:txBody>
          <a:bodyPr wrap="square" lIns="0" tIns="0" rIns="0" bIns="0" rtlCol="0" anchor="ctr"/>
          <a:lstStyle/>
          <a:p>
            <a:pPr indent="0" marL="0">
              <a:lnSpc>
                <a:spcPct val="100000"/>
              </a:lnSpc>
              <a:buNone/>
            </a:pPr>
            <a:r>
              <a:rPr lang="en-US" sz="1050" dirty="0">
                <a:solidFill>
                  <a:srgbClr val="D6D7E0"/>
                </a:solidFill>
                <a:latin typeface="Arial" pitchFamily="34" charset="0"/>
                <a:ea typeface="Arial" pitchFamily="34" charset="-122"/>
                <a:cs typeface="Arial" pitchFamily="34" charset="-120"/>
              </a:rPr>
              <a:t>Top contributing process features extracted via SHAP to surface which parameters are driving the pre-production risk flag</a:t>
            </a:r>
            <a:endParaRPr lang="en-US" sz="1050" dirty="0"/>
          </a:p>
        </p:txBody>
      </p:sp>
      <p:sp>
        <p:nvSpPr>
          <p:cNvPr id="21" name="Text 15"/>
          <p:cNvSpPr txBox="1"/>
          <p:nvPr/>
        </p:nvSpPr>
        <p:spPr>
          <a:xfrm>
            <a:off x="6126480" y="1691640"/>
            <a:ext cx="553212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Risk Threshold Decision Framework</a:t>
            </a:r>
            <a:endParaRPr lang="en-US" sz="1500" dirty="0"/>
          </a:p>
        </p:txBody>
      </p:sp>
      <p:sp>
        <p:nvSpPr>
          <p:cNvPr id="22" name="Shape 16"/>
          <p:cNvSpPr/>
          <p:nvPr/>
        </p:nvSpPr>
        <p:spPr>
          <a:xfrm>
            <a:off x="6126480" y="2029968"/>
            <a:ext cx="5532120" cy="914400"/>
          </a:xfrm>
          <a:prstGeom prst="rect">
            <a:avLst/>
          </a:prstGeom>
          <a:solidFill>
            <a:srgbClr val="8B0003"/>
          </a:solidFill>
          <a:ln w="12700">
            <a:solidFill>
              <a:srgbClr val="8B0003"/>
            </a:solidFill>
            <a:prstDash val="solid"/>
          </a:ln>
        </p:spPr>
      </p:sp>
      <p:sp>
        <p:nvSpPr>
          <p:cNvPr id="23" name="Text 17"/>
          <p:cNvSpPr txBox="1"/>
          <p:nvPr/>
        </p:nvSpPr>
        <p:spPr>
          <a:xfrm>
            <a:off x="6309360" y="2139696"/>
            <a:ext cx="5166360" cy="29260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HIGH RISK — ≥70%</a:t>
            </a:r>
            <a:endParaRPr lang="en-US" sz="1500" dirty="0"/>
          </a:p>
        </p:txBody>
      </p:sp>
      <p:sp>
        <p:nvSpPr>
          <p:cNvPr id="24" name="Text 18"/>
          <p:cNvSpPr txBox="1"/>
          <p:nvPr/>
        </p:nvSpPr>
        <p:spPr>
          <a:xfrm>
            <a:off x="6309360" y="2450592"/>
            <a:ext cx="5166360" cy="457200"/>
          </a:xfrm>
          <a:prstGeom prst="rect">
            <a:avLst/>
          </a:prstGeom>
          <a:noFill/>
          <a:ln/>
        </p:spPr>
        <p:txBody>
          <a:bodyPr wrap="square" lIns="0" tIns="0" rIns="0" bIns="0" rtlCol="0" anchor="ctr"/>
          <a:lstStyle/>
          <a:p>
            <a:pPr indent="0" marL="0">
              <a:lnSpc>
                <a:spcPct val="110000"/>
              </a:lnSpc>
              <a:buNone/>
            </a:pPr>
            <a:r>
              <a:rPr lang="en-US" sz="1100" b="1" dirty="0">
                <a:solidFill>
                  <a:srgbClr val="FFFFFF"/>
                </a:solidFill>
                <a:latin typeface="Arial" pitchFamily="34" charset="0"/>
                <a:ea typeface="Arial" pitchFamily="34" charset="-122"/>
                <a:cs typeface="Arial" pitchFamily="34" charset="-120"/>
              </a:rPr>
              <a:t>Hold batch. </a:t>
            </a:r>
            <a:pPr indent="0" marL="0">
              <a:lnSpc>
                <a:spcPct val="110000"/>
              </a:lnSpc>
              <a:buNone/>
            </a:pPr>
            <a:r>
              <a:rPr lang="en-US" sz="1100" dirty="0">
                <a:solidFill>
                  <a:srgbClr val="FFFFFF"/>
                </a:solidFill>
                <a:latin typeface="Arial" pitchFamily="34" charset="0"/>
                <a:ea typeface="Arial" pitchFamily="34" charset="-122"/>
                <a:cs typeface="Arial" pitchFamily="34" charset="-120"/>
              </a:rPr>
              <a:t>Requires immediate process engineer review before any manufacturing execution is permitted.</a:t>
            </a:r>
            <a:endParaRPr lang="en-US" sz="1100" dirty="0"/>
          </a:p>
        </p:txBody>
      </p:sp>
      <p:sp>
        <p:nvSpPr>
          <p:cNvPr id="25" name="Shape 19"/>
          <p:cNvSpPr/>
          <p:nvPr/>
        </p:nvSpPr>
        <p:spPr>
          <a:xfrm>
            <a:off x="6126480" y="3035808"/>
            <a:ext cx="5532120" cy="914400"/>
          </a:xfrm>
          <a:prstGeom prst="rect">
            <a:avLst/>
          </a:prstGeom>
          <a:solidFill>
            <a:srgbClr val="8B6002"/>
          </a:solidFill>
          <a:ln w="12700">
            <a:solidFill>
              <a:srgbClr val="8B6002"/>
            </a:solidFill>
            <a:prstDash val="solid"/>
          </a:ln>
        </p:spPr>
      </p:sp>
      <p:sp>
        <p:nvSpPr>
          <p:cNvPr id="26" name="Text 20"/>
          <p:cNvSpPr txBox="1"/>
          <p:nvPr/>
        </p:nvSpPr>
        <p:spPr>
          <a:xfrm>
            <a:off x="6309360" y="3145536"/>
            <a:ext cx="5166360" cy="29260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MEDIUM RISK — 40–69%</a:t>
            </a:r>
            <a:endParaRPr lang="en-US" sz="1500" dirty="0"/>
          </a:p>
        </p:txBody>
      </p:sp>
      <p:sp>
        <p:nvSpPr>
          <p:cNvPr id="27" name="Text 21"/>
          <p:cNvSpPr txBox="1"/>
          <p:nvPr/>
        </p:nvSpPr>
        <p:spPr>
          <a:xfrm>
            <a:off x="6309360" y="3456432"/>
            <a:ext cx="5166360" cy="457200"/>
          </a:xfrm>
          <a:prstGeom prst="rect">
            <a:avLst/>
          </a:prstGeom>
          <a:noFill/>
          <a:ln/>
        </p:spPr>
        <p:txBody>
          <a:bodyPr wrap="square" lIns="0" tIns="0" rIns="0" bIns="0" rtlCol="0" anchor="ctr"/>
          <a:lstStyle/>
          <a:p>
            <a:pPr indent="0" marL="0">
              <a:lnSpc>
                <a:spcPct val="110000"/>
              </a:lnSpc>
              <a:buNone/>
            </a:pPr>
            <a:r>
              <a:rPr lang="en-US" sz="1100" b="1" dirty="0">
                <a:solidFill>
                  <a:srgbClr val="FFFFFF"/>
                </a:solidFill>
                <a:latin typeface="Arial" pitchFamily="34" charset="0"/>
                <a:ea typeface="Arial" pitchFamily="34" charset="-122"/>
                <a:cs typeface="Arial" pitchFamily="34" charset="-120"/>
              </a:rPr>
              <a:t>Schedule secondary review </a:t>
            </a:r>
            <a:pPr indent="0" marL="0">
              <a:lnSpc>
                <a:spcPct val="110000"/>
              </a:lnSpc>
              <a:buNone/>
            </a:pPr>
            <a:r>
              <a:rPr lang="en-US" sz="1100" dirty="0">
                <a:solidFill>
                  <a:srgbClr val="FFFFFF"/>
                </a:solidFill>
                <a:latin typeface="Arial" pitchFamily="34" charset="0"/>
                <a:ea typeface="Arial" pitchFamily="34" charset="-122"/>
                <a:cs typeface="Arial" pitchFamily="34" charset="-120"/>
              </a:rPr>
              <a:t>before manufacturing. Elevated vigilance; corrective parameter adjustment may be warranted.</a:t>
            </a:r>
            <a:endParaRPr lang="en-US" sz="1100" dirty="0"/>
          </a:p>
        </p:txBody>
      </p:sp>
      <p:sp>
        <p:nvSpPr>
          <p:cNvPr id="28" name="Shape 22"/>
          <p:cNvSpPr/>
          <p:nvPr/>
        </p:nvSpPr>
        <p:spPr>
          <a:xfrm>
            <a:off x="6126480" y="4041648"/>
            <a:ext cx="5532120" cy="914400"/>
          </a:xfrm>
          <a:prstGeom prst="rect">
            <a:avLst/>
          </a:prstGeom>
          <a:solidFill>
            <a:srgbClr val="024C00"/>
          </a:solidFill>
          <a:ln w="12700">
            <a:solidFill>
              <a:srgbClr val="024C00"/>
            </a:solidFill>
            <a:prstDash val="solid"/>
          </a:ln>
        </p:spPr>
      </p:sp>
      <p:sp>
        <p:nvSpPr>
          <p:cNvPr id="29" name="Text 23"/>
          <p:cNvSpPr txBox="1"/>
          <p:nvPr/>
        </p:nvSpPr>
        <p:spPr>
          <a:xfrm>
            <a:off x="6309360" y="4151376"/>
            <a:ext cx="5166360" cy="29260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LOW RISK — &lt;40%</a:t>
            </a:r>
            <a:endParaRPr lang="en-US" sz="1500" dirty="0"/>
          </a:p>
        </p:txBody>
      </p:sp>
      <p:sp>
        <p:nvSpPr>
          <p:cNvPr id="30" name="Text 24"/>
          <p:cNvSpPr txBox="1"/>
          <p:nvPr/>
        </p:nvSpPr>
        <p:spPr>
          <a:xfrm>
            <a:off x="6309360" y="4462272"/>
            <a:ext cx="5166360" cy="457200"/>
          </a:xfrm>
          <a:prstGeom prst="rect">
            <a:avLst/>
          </a:prstGeom>
          <a:noFill/>
          <a:ln/>
        </p:spPr>
        <p:txBody>
          <a:bodyPr wrap="square" lIns="0" tIns="0" rIns="0" bIns="0" rtlCol="0" anchor="ctr"/>
          <a:lstStyle/>
          <a:p>
            <a:pPr indent="0" marL="0">
              <a:lnSpc>
                <a:spcPct val="110000"/>
              </a:lnSpc>
              <a:buNone/>
            </a:pPr>
            <a:r>
              <a:rPr lang="en-US" sz="1100" b="1" dirty="0">
                <a:solidFill>
                  <a:srgbClr val="FFFFFF"/>
                </a:solidFill>
                <a:latin typeface="Arial" pitchFamily="34" charset="0"/>
                <a:ea typeface="Arial" pitchFamily="34" charset="-122"/>
                <a:cs typeface="Arial" pitchFamily="34" charset="-120"/>
              </a:rPr>
              <a:t>Proceed with manufacturing. </a:t>
            </a:r>
            <a:pPr indent="0" marL="0">
              <a:lnSpc>
                <a:spcPct val="110000"/>
              </a:lnSpc>
              <a:buNone/>
            </a:pPr>
            <a:r>
              <a:rPr lang="en-US" sz="1100" dirty="0">
                <a:solidFill>
                  <a:srgbClr val="FFFFFF"/>
                </a:solidFill>
                <a:latin typeface="Arial" pitchFamily="34" charset="0"/>
                <a:ea typeface="Arial" pitchFamily="34" charset="-122"/>
                <a:cs typeface="Arial" pitchFamily="34" charset="-120"/>
              </a:rPr>
              <a:t>Process parameters within acceptable risk envelope based on SECOM model assessment.</a:t>
            </a:r>
            <a:endParaRPr lang="en-US" sz="1100" dirty="0"/>
          </a:p>
        </p:txBody>
      </p:sp>
      <p:sp>
        <p:nvSpPr>
          <p:cNvPr id="31" name="Text 25"/>
          <p:cNvSpPr txBox="1"/>
          <p:nvPr/>
        </p:nvSpPr>
        <p:spPr>
          <a:xfrm>
            <a:off x="6126480" y="5120640"/>
            <a:ext cx="5532120" cy="320040"/>
          </a:xfrm>
          <a:prstGeom prst="rect">
            <a:avLst/>
          </a:prstGeom>
          <a:noFill/>
          <a:ln/>
        </p:spPr>
        <p:txBody>
          <a:bodyPr wrap="square" lIns="0" tIns="0" rIns="0" bIns="0" rtlCol="0" anchor="ctr"/>
          <a:lstStyle/>
          <a:p>
            <a:pPr indent="0" marL="0">
              <a:buNone/>
            </a:pPr>
            <a:r>
              <a:rPr lang="en-US" sz="1500" b="1" dirty="0">
                <a:solidFill>
                  <a:srgbClr val="D98CC0"/>
                </a:solidFill>
                <a:latin typeface="Arial" pitchFamily="34" charset="0"/>
                <a:ea typeface="Arial" pitchFamily="34" charset="-122"/>
                <a:cs typeface="Arial" pitchFamily="34" charset="-120"/>
              </a:rPr>
              <a:t>Output Delivered to Engineers</a:t>
            </a:r>
            <a:endParaRPr lang="en-US" sz="1500" dirty="0"/>
          </a:p>
        </p:txBody>
      </p:sp>
      <p:sp>
        <p:nvSpPr>
          <p:cNvPr id="32" name="Text 26"/>
          <p:cNvSpPr txBox="1"/>
          <p:nvPr/>
        </p:nvSpPr>
        <p:spPr>
          <a:xfrm>
            <a:off x="6126480" y="5458968"/>
            <a:ext cx="5532120" cy="777240"/>
          </a:xfrm>
          <a:prstGeom prst="rect">
            <a:avLst/>
          </a:prstGeom>
          <a:noFill/>
          <a:ln/>
        </p:spPr>
        <p:txBody>
          <a:bodyPr wrap="square" lIns="0" tIns="0" rIns="0" bIns="0" rtlCol="0" anchor="ctr"/>
          <a:lstStyle/>
          <a:p>
            <a:pPr algn="l" indent="0" marL="0">
              <a:lnSpc>
                <a:spcPct val="115000"/>
              </a:lnSpc>
              <a:buNone/>
            </a:pPr>
            <a:r>
              <a:rPr lang="en-US" sz="1150" dirty="0">
                <a:solidFill>
                  <a:srgbClr val="D6D7E0"/>
                </a:solidFill>
                <a:latin typeface="Arial" pitchFamily="34" charset="0"/>
                <a:ea typeface="Arial" pitchFamily="34" charset="-122"/>
                <a:cs typeface="Arial" pitchFamily="34" charset="-120"/>
              </a:rPr>
              <a:t>Pre-production risk tier · Failure probability score · Top SHAP-ranked contributing signals · Recommended action (Hold / Review / Proceed) — enabling data-driven gate decisions before wafer exposure begins.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2026-09-15T11:05:38Z</dcterms:created>
  <dcterms:modified xsi:type="dcterms:W3CDTF">2026-09-15T11:05:38Z</dcterms:modified>
</cp:coreProperties>
</file>